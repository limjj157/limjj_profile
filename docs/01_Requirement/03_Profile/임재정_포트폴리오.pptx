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74" r:id="rId3"/>
    <p:sldId id="276" r:id="rId4"/>
    <p:sldId id="537" r:id="rId5"/>
    <p:sldId id="562" r:id="rId6"/>
    <p:sldId id="538" r:id="rId7"/>
    <p:sldId id="551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  <p:sldId id="561" r:id="rId17"/>
    <p:sldId id="536" r:id="rId18"/>
    <p:sldId id="531" r:id="rId19"/>
    <p:sldId id="543" r:id="rId20"/>
    <p:sldId id="544" r:id="rId21"/>
    <p:sldId id="545" r:id="rId22"/>
    <p:sldId id="546" r:id="rId23"/>
    <p:sldId id="547" r:id="rId24"/>
    <p:sldId id="548" r:id="rId25"/>
    <p:sldId id="549" r:id="rId26"/>
    <p:sldId id="550" r:id="rId27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5B"/>
    <a:srgbClr val="FF3300"/>
    <a:srgbClr val="FF5050"/>
    <a:srgbClr val="E46C0A"/>
    <a:srgbClr val="000000"/>
    <a:srgbClr val="D07C7A"/>
    <a:srgbClr val="C55E5B"/>
    <a:srgbClr val="028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71" autoAdjust="0"/>
    <p:restoredTop sz="94660"/>
  </p:normalViewPr>
  <p:slideViewPr>
    <p:cSldViewPr>
      <p:cViewPr varScale="1">
        <p:scale>
          <a:sx n="112" d="100"/>
          <a:sy n="112" d="100"/>
        </p:scale>
        <p:origin x="-19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37C0BB2-4D1F-4DD8-8D06-6A523E1E9FD9}" type="datetimeFigureOut">
              <a:rPr lang="ko-KR" altLang="en-US"/>
              <a:pPr>
                <a:defRPr/>
              </a:pPr>
              <a:t>2017-11-28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68E7788-A36A-44C4-AFA5-911DAFDEFF5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1592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61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A2E9EA-E251-46F9-9F04-6EA287C89522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9525" y="2843224"/>
            <a:ext cx="913447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142875" y="6659563"/>
            <a:ext cx="8858250" cy="14287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dirty="0" smtClean="0">
                <a:solidFill>
                  <a:schemeClr val="bg1"/>
                </a:solidFill>
              </a:rPr>
              <a:t>PAGE:    </a:t>
            </a:r>
            <a:fld id="{99528CAC-7D54-4F12-ADC1-69681542385E}" type="slidenum">
              <a:rPr kumimoji="0" lang="en-US" altLang="ko-KR" sz="800" b="1" smtClean="0">
                <a:solidFill>
                  <a:schemeClr val="bg1"/>
                </a:solidFill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500313" y="500064"/>
            <a:ext cx="6500812" cy="14287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8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142844" y="500042"/>
            <a:ext cx="2500313" cy="1428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imjj157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827088" y="1449388"/>
            <a:ext cx="8316912" cy="84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4" tIns="45717" rIns="91434" bIns="45717">
            <a:spAutoFit/>
          </a:bodyPr>
          <a:lstStyle/>
          <a:p>
            <a:pPr algn="r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8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임재정</a:t>
            </a:r>
            <a:r>
              <a:rPr kumimoji="0" lang="en-US" altLang="ko-KR" sz="28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Portfolio</a:t>
            </a:r>
            <a:br>
              <a:rPr kumimoji="0" lang="en-US" altLang="ko-KR" sz="28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</a:br>
            <a:r>
              <a:rPr kumimoji="0" lang="en-US" altLang="ko-KR" sz="15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 sz="15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최근 진행 </a:t>
            </a:r>
            <a:r>
              <a:rPr kumimoji="0" lang="en-US" altLang="ko-KR" sz="15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Project)</a:t>
            </a:r>
            <a:endParaRPr kumimoji="0" lang="en-US" altLang="ko-KR" sz="1500" kern="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1636" y="6021288"/>
            <a:ext cx="3924300" cy="64293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 smtClean="0">
                <a:solidFill>
                  <a:schemeClr val="tx1"/>
                </a:solidFill>
                <a:latin typeface="+mn-ea"/>
              </a:rPr>
              <a:t>임재정 </a:t>
            </a:r>
            <a:endParaRPr kumimoji="0" lang="en-US" altLang="ko-KR" sz="1000" b="1" dirty="0">
              <a:solidFill>
                <a:schemeClr val="tx1"/>
              </a:solidFill>
              <a:latin typeface="+mn-ea"/>
            </a:endParaRPr>
          </a:p>
          <a:p>
            <a:pPr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 smtClean="0">
                <a:solidFill>
                  <a:schemeClr val="tx1"/>
                </a:solidFill>
              </a:rPr>
              <a:t>Business Architect &amp; Data Architect</a:t>
            </a:r>
            <a:endParaRPr kumimoji="0" lang="en-US" altLang="ko-KR" sz="800" dirty="0">
              <a:solidFill>
                <a:schemeClr val="tx1"/>
              </a:solidFill>
            </a:endParaRPr>
          </a:p>
          <a:p>
            <a:pPr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 smtClean="0">
                <a:solidFill>
                  <a:schemeClr val="tx1"/>
                </a:solidFill>
              </a:rPr>
              <a:t>010-3769-1784 / </a:t>
            </a:r>
            <a:r>
              <a:rPr kumimoji="0" lang="en-US" altLang="ko-KR" sz="800" dirty="0" smtClean="0">
                <a:solidFill>
                  <a:schemeClr val="tx1"/>
                </a:solidFill>
                <a:hlinkClick r:id="rId3"/>
              </a:rPr>
              <a:t>limjj157@gmail.com</a:t>
            </a:r>
            <a:r>
              <a:rPr kumimoji="0" lang="en-US" altLang="ko-KR" sz="800" dirty="0" smtClean="0">
                <a:solidFill>
                  <a:schemeClr val="tx1"/>
                </a:solidFill>
              </a:rPr>
              <a:t> </a:t>
            </a:r>
            <a:endParaRPr kumimoji="0" lang="en-US" altLang="ko-KR" sz="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5938" y="785794"/>
            <a:ext cx="55721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>
                <a:solidFill>
                  <a:prstClr val="black"/>
                </a:solidFill>
                <a:latin typeface="맑은 고딕"/>
                <a:ea typeface="맑은 고딕"/>
              </a:rPr>
              <a:t>INDEX</a:t>
            </a:r>
            <a:endParaRPr kumimoji="0" lang="ko-KR" altLang="en-US" sz="2400" b="1" dirty="0">
              <a:latin typeface="+mj-lt"/>
              <a:ea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3430573" y="1285856"/>
            <a:ext cx="2286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00" name="TextBox 12"/>
          <p:cNvSpPr txBox="1">
            <a:spLocks noChangeArrowheads="1"/>
          </p:cNvSpPr>
          <p:nvPr/>
        </p:nvSpPr>
        <p:spPr bwMode="auto">
          <a:xfrm>
            <a:off x="785818" y="1473944"/>
            <a:ext cx="199464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I.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Hackers Ivy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Project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85818" y="1823194"/>
            <a:ext cx="2286000" cy="15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03" name="TextBox 20"/>
          <p:cNvSpPr txBox="1">
            <a:spLocks noChangeArrowheads="1"/>
          </p:cNvSpPr>
          <p:nvPr/>
        </p:nvSpPr>
        <p:spPr bwMode="auto">
          <a:xfrm>
            <a:off x="755576" y="2824420"/>
            <a:ext cx="30212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Ⅱ. 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순천향대학교 병원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DW System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784229" y="3172083"/>
            <a:ext cx="2875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05" name="TextBox 22"/>
          <p:cNvSpPr txBox="1">
            <a:spLocks noChangeArrowheads="1"/>
          </p:cNvSpPr>
          <p:nvPr/>
        </p:nvSpPr>
        <p:spPr bwMode="auto">
          <a:xfrm>
            <a:off x="971600" y="3241933"/>
            <a:ext cx="136127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요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 구성도 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12" name="TextBox 31"/>
          <p:cNvSpPr txBox="1">
            <a:spLocks noChangeArrowheads="1"/>
          </p:cNvSpPr>
          <p:nvPr/>
        </p:nvSpPr>
        <p:spPr bwMode="auto">
          <a:xfrm>
            <a:off x="788951" y="4046537"/>
            <a:ext cx="26653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Ⅲ. (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400" b="1" dirty="0" err="1" smtClean="0">
                <a:latin typeface="맑은 고딕" pitchFamily="50" charset="-127"/>
                <a:ea typeface="맑은 고딕" pitchFamily="50" charset="-127"/>
              </a:rPr>
              <a:t>화진화장품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EIS System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788951" y="4394200"/>
            <a:ext cx="270292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22"/>
          <p:cNvSpPr txBox="1">
            <a:spLocks noChangeArrowheads="1"/>
          </p:cNvSpPr>
          <p:nvPr/>
        </p:nvSpPr>
        <p:spPr bwMode="auto">
          <a:xfrm>
            <a:off x="971600" y="4509120"/>
            <a:ext cx="136127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요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 구성도 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31"/>
          <p:cNvSpPr txBox="1">
            <a:spLocks noChangeArrowheads="1"/>
          </p:cNvSpPr>
          <p:nvPr/>
        </p:nvSpPr>
        <p:spPr bwMode="auto">
          <a:xfrm>
            <a:off x="790535" y="5318581"/>
            <a:ext cx="28736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Ⅳ. SK Telecom Imagine System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790535" y="5666244"/>
            <a:ext cx="28736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2"/>
          <p:cNvSpPr txBox="1">
            <a:spLocks noChangeArrowheads="1"/>
          </p:cNvSpPr>
          <p:nvPr/>
        </p:nvSpPr>
        <p:spPr bwMode="auto">
          <a:xfrm>
            <a:off x="973184" y="5781164"/>
            <a:ext cx="1361270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요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 구성도 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2"/>
          <p:cNvSpPr txBox="1">
            <a:spLocks noChangeArrowheads="1"/>
          </p:cNvSpPr>
          <p:nvPr/>
        </p:nvSpPr>
        <p:spPr bwMode="auto">
          <a:xfrm>
            <a:off x="957144" y="1916832"/>
            <a:ext cx="2973891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시스템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요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추진배경 및 목적</a:t>
            </a:r>
            <a:endParaRPr lang="en-US" altLang="ko-KR" sz="11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고객분석플랫폼 </a:t>
            </a:r>
            <a:r>
              <a:rPr lang="en-US" altLang="ko-KR" sz="1100" dirty="0" smtClean="0">
                <a:latin typeface="맑은 고딕" pitchFamily="50" charset="-127"/>
                <a:ea typeface="맑은 고딕" pitchFamily="50" charset="-127"/>
              </a:rPr>
              <a:t>(Ivy Project) Road Map</a:t>
            </a:r>
            <a:endParaRPr lang="en-US" altLang="ko-KR" sz="1100" dirty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Tx/>
              <a:buAutoNum type="arabicPeriod"/>
            </a:pPr>
            <a:r>
              <a:rPr lang="ko-KR" altLang="en-US" sz="1100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lang="ko-KR" altLang="en-US" sz="11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3580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개요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graphicFrame>
        <p:nvGraphicFramePr>
          <p:cNvPr id="5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772015"/>
              </p:ext>
            </p:extLst>
          </p:nvPr>
        </p:nvGraphicFramePr>
        <p:xfrm>
          <a:off x="250304" y="1124745"/>
          <a:ext cx="8590656" cy="5402234"/>
        </p:xfrm>
        <a:graphic>
          <a:graphicData uri="http://schemas.openxmlformats.org/drawingml/2006/table">
            <a:tbl>
              <a:tblPr/>
              <a:tblGrid>
                <a:gridCol w="1575443"/>
                <a:gridCol w="7015213"/>
              </a:tblGrid>
              <a:tr h="3600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구분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    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3600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시스템명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Hackers Ivy Project</a:t>
                      </a: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3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 개요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indent="-176213" fontAlgn="auto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해커스교육그룹의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효율적인 마케팅 전략 수립을 위하여 고객분석 플랫폼 개발의 필요성이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대두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fontAlgn="auto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운영중인 </a:t>
                      </a:r>
                      <a:r>
                        <a:rPr kumimoji="0" lang="ko-KR" altLang="en-US" sz="11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해커스교육그룹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ko-KR" altLang="en-US" sz="11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여개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전체 사이트의 사용자 패턴 분석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Cross-Domain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개념을 적용하여 타 사이트 </a:t>
                      </a:r>
                      <a:r>
                        <a:rPr kumimoji="0" lang="ko-KR" altLang="en-US" sz="11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이동시에도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Tracking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가능하도록 구현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(Device ID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부여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fontAlgn="auto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1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kumimoji="0" lang="en-US" altLang="ko-KR" sz="11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1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요구사항 도출 및 기존 운영 사이트 분석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System Architecture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사이트에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Web Log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수집 프로그램 적용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Treasure Data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Cross-Domain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개념 적용 사용자 패턴 분석 체계 확립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fontAlgn="auto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kumimoji="0"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일부 완료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기존 </a:t>
                      </a:r>
                      <a:r>
                        <a:rPr kumimoji="0" lang="ko-KR" altLang="en-US" sz="11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사이트별로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분산되어있는 고객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Data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수집된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Web Log Data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병합하여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Data Mart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각종 분석 지표 도출 후 일부 화면 개발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Segmentation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체계 확립 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fontAlgn="auto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kumimoji="0"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 진행 중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개인화 마케팅 솔루션 개발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사용중인 마케팅 솔루션 대체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캠페인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이벤트 단위의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ROI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측정</a:t>
                      </a:r>
                      <a:endParaRPr kumimoji="0"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0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Role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 :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모듈혁신개발팀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팀장으로 전체 프로젝트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 수행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현업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인터뷰 및 화면 기획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Database Modeling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Treasure Data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 도입 및 구축</a:t>
                      </a:r>
                      <a:endParaRPr kumimoji="0"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기간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2017.04 ~ 2017.10</a:t>
                      </a:r>
                      <a:endParaRPr kumimoji="0"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68194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추진배경 및 목적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en-US" sz="1200" dirty="0" err="1" smtClean="0">
                <a:latin typeface="맑은 고딕" pitchFamily="50" charset="-127"/>
                <a:ea typeface="맑은 고딕" pitchFamily="50" charset="-127"/>
              </a:rPr>
              <a:t>해커스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 교육그룹의 효율적인 마케팅 전략 수립을 위하여 고객분석 플랫폼 개발의 필요성 대두</a:t>
            </a:r>
            <a:endParaRPr kumimoji="0"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84" y="1340768"/>
            <a:ext cx="8443625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234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81119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고객분석 플랫폼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(Ivy Project)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구축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 Road Map</a:t>
            </a:r>
            <a:b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효과적인</a:t>
            </a:r>
            <a:r>
              <a:rPr kumimoji="0"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개인별 </a:t>
            </a:r>
            <a:r>
              <a:rPr kumimoji="0" lang="en-US" altLang="ko-KR" sz="1200" dirty="0" smtClean="0">
                <a:latin typeface="맑은 고딕" pitchFamily="50" charset="-127"/>
                <a:ea typeface="맑은 고딕" pitchFamily="50" charset="-127"/>
              </a:rPr>
              <a:t>Target Marketing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을 위한 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체계를 구축하기 위하여 아래와 같은 </a:t>
            </a:r>
            <a:r>
              <a:rPr kumimoji="0" lang="en-US" altLang="ko-KR" sz="1200" dirty="0" smtClean="0">
                <a:latin typeface="맑은 고딕" pitchFamily="50" charset="-127"/>
                <a:ea typeface="맑은 고딕" pitchFamily="50" charset="-127"/>
              </a:rPr>
              <a:t>Road Map</a:t>
            </a:r>
            <a:r>
              <a:rPr kumimoji="0" lang="ko-KR" altLang="en-US" sz="1200" dirty="0" smtClean="0">
                <a:latin typeface="맑은 고딕" pitchFamily="50" charset="-127"/>
                <a:ea typeface="맑은 고딕" pitchFamily="50" charset="-127"/>
              </a:rPr>
              <a:t>으로 단계적으로 추진</a:t>
            </a:r>
            <a:endParaRPr kumimoji="0"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255347" cy="4288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48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5760258"/>
            <a:ext cx="81208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현재 </a:t>
            </a:r>
            <a:r>
              <a:rPr kumimoji="0" lang="ko-KR" altLang="en-US" sz="1000" dirty="0" err="1" smtClean="0">
                <a:latin typeface="+mn-ea"/>
                <a:ea typeface="+mn-ea"/>
              </a:rPr>
              <a:t>해커스교육그룹에서</a:t>
            </a:r>
            <a:r>
              <a:rPr kumimoji="0" lang="ko-KR" altLang="en-US" sz="1000" dirty="0" smtClean="0">
                <a:latin typeface="+mn-ea"/>
                <a:ea typeface="+mn-ea"/>
              </a:rPr>
              <a:t> 운영중인 </a:t>
            </a:r>
            <a:r>
              <a:rPr kumimoji="0" lang="en-US" altLang="ko-KR" sz="1000" dirty="0" smtClean="0">
                <a:latin typeface="+mn-ea"/>
                <a:ea typeface="+mn-ea"/>
              </a:rPr>
              <a:t>24</a:t>
            </a:r>
            <a:r>
              <a:rPr kumimoji="0" lang="ko-KR" altLang="en-US" sz="1000" dirty="0" smtClean="0">
                <a:latin typeface="+mn-ea"/>
                <a:ea typeface="+mn-ea"/>
              </a:rPr>
              <a:t>개 사이트 등록</a:t>
            </a:r>
            <a:r>
              <a:rPr kumimoji="0" lang="en-US" altLang="ko-KR" sz="1000" dirty="0" smtClean="0">
                <a:latin typeface="+mn-ea"/>
                <a:ea typeface="+mn-ea"/>
              </a:rPr>
              <a:t>.</a:t>
            </a: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전체사이트를 웹과 </a:t>
            </a:r>
            <a:r>
              <a:rPr kumimoji="0" lang="ko-KR" altLang="en-US" sz="1000" dirty="0" err="1" smtClean="0">
                <a:latin typeface="+mn-ea"/>
                <a:ea typeface="+mn-ea"/>
              </a:rPr>
              <a:t>모바일로</a:t>
            </a:r>
            <a:r>
              <a:rPr kumimoji="0" lang="ko-KR" altLang="en-US" sz="1000" dirty="0" smtClean="0">
                <a:latin typeface="+mn-ea"/>
                <a:ea typeface="+mn-ea"/>
              </a:rPr>
              <a:t> 분리하여 각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채널별로</a:t>
            </a:r>
            <a:r>
              <a:rPr kumimoji="0" lang="ko-KR" altLang="en-US" sz="1000" dirty="0" smtClean="0">
                <a:latin typeface="+mn-ea"/>
                <a:ea typeface="+mn-ea"/>
              </a:rPr>
              <a:t> 통계 정보 생성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32" y="978764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7047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Main Dashboard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457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7047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Main Dashboard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 descr="C:\Users\admin\Desktop\ssh\이미지 7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537" y="976631"/>
            <a:ext cx="8352927" cy="400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95537" y="5532839"/>
            <a:ext cx="835292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특정사이트의 특정일자의 </a:t>
            </a:r>
            <a:r>
              <a:rPr kumimoji="0" lang="en-US" altLang="ko-KR" sz="1000" dirty="0" smtClean="0">
                <a:latin typeface="+mn-ea"/>
                <a:ea typeface="+mn-ea"/>
              </a:rPr>
              <a:t>KPI</a:t>
            </a:r>
            <a:r>
              <a:rPr kumimoji="0" lang="ko-KR" altLang="en-US" sz="1000" dirty="0" smtClean="0">
                <a:latin typeface="+mn-ea"/>
                <a:ea typeface="+mn-ea"/>
              </a:rPr>
              <a:t>항목 및 결재관련 상세지표 </a:t>
            </a:r>
            <a:r>
              <a:rPr kumimoji="0" lang="en-US" altLang="ko-KR" sz="1000" dirty="0" smtClean="0">
                <a:latin typeface="+mn-ea"/>
                <a:ea typeface="+mn-ea"/>
              </a:rPr>
              <a:t>Dashboard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291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0681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err="1" smtClean="0">
                <a:latin typeface="맑은 고딕" pitchFamily="50" charset="-127"/>
                <a:ea typeface="맑은 고딕" pitchFamily="50" charset="-127"/>
              </a:rPr>
              <a:t>소셜통계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사이트의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소셜별</a:t>
            </a:r>
            <a:r>
              <a:rPr kumimoji="0" lang="ko-KR" altLang="en-US" sz="1000" dirty="0" smtClean="0">
                <a:latin typeface="+mn-ea"/>
                <a:ea typeface="+mn-ea"/>
              </a:rPr>
              <a:t> 최초 유입경로 통계 화면</a:t>
            </a:r>
            <a:r>
              <a:rPr kumimoji="0" lang="en-US" altLang="ko-KR" sz="1000" dirty="0" smtClean="0">
                <a:latin typeface="+mn-ea"/>
                <a:ea typeface="+mn-ea"/>
              </a:rPr>
              <a:t>(</a:t>
            </a:r>
            <a:r>
              <a:rPr kumimoji="0" lang="ko-KR" altLang="en-US" sz="1000" dirty="0" smtClean="0">
                <a:latin typeface="+mn-ea"/>
                <a:ea typeface="+mn-ea"/>
              </a:rPr>
              <a:t>카페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지도</a:t>
            </a:r>
            <a:r>
              <a:rPr kumimoji="0" lang="en-US" altLang="ko-KR" sz="1000" dirty="0" smtClean="0">
                <a:latin typeface="+mn-ea"/>
                <a:ea typeface="+mn-ea"/>
              </a:rPr>
              <a:t>,</a:t>
            </a:r>
            <a:r>
              <a:rPr kumimoji="0" lang="ko-KR" altLang="en-US" sz="1000" dirty="0" smtClean="0">
                <a:latin typeface="+mn-ea"/>
                <a:ea typeface="+mn-ea"/>
              </a:rPr>
              <a:t>메시지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해커스영어</a:t>
            </a:r>
            <a:r>
              <a:rPr kumimoji="0" lang="en-US" altLang="ko-KR" sz="1000" dirty="0" smtClean="0">
                <a:latin typeface="+mn-ea"/>
                <a:ea typeface="+mn-ea"/>
              </a:rPr>
              <a:t>(</a:t>
            </a:r>
            <a:r>
              <a:rPr kumimoji="0" lang="ko-KR" altLang="en-US" sz="1000" dirty="0" smtClean="0">
                <a:latin typeface="+mn-ea"/>
                <a:ea typeface="+mn-ea"/>
              </a:rPr>
              <a:t>커뮤니티</a:t>
            </a:r>
            <a:r>
              <a:rPr kumimoji="0" lang="en-US" altLang="ko-KR" sz="1000" dirty="0" smtClean="0">
                <a:latin typeface="+mn-ea"/>
                <a:ea typeface="+mn-ea"/>
              </a:rPr>
              <a:t>),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페이스북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인스타그램</a:t>
            </a:r>
            <a:r>
              <a:rPr kumimoji="0" lang="en-US" altLang="ko-KR" sz="1000" dirty="0" smtClean="0">
                <a:latin typeface="+mn-ea"/>
                <a:ea typeface="+mn-ea"/>
              </a:rPr>
              <a:t>. </a:t>
            </a:r>
            <a:r>
              <a:rPr kumimoji="0" lang="ko-KR" altLang="en-US" sz="1000" dirty="0" smtClean="0">
                <a:latin typeface="+mn-ea"/>
                <a:ea typeface="+mn-ea"/>
              </a:rPr>
              <a:t>지식인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포스트</a:t>
            </a:r>
            <a:r>
              <a:rPr kumimoji="0" lang="en-US" altLang="ko-KR" sz="1000" dirty="0" smtClean="0">
                <a:latin typeface="+mn-ea"/>
                <a:ea typeface="+mn-ea"/>
              </a:rPr>
              <a:t>…)</a:t>
            </a: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각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소셜</a:t>
            </a:r>
            <a:r>
              <a:rPr kumimoji="0" lang="ko-KR" altLang="en-US" sz="1000" dirty="0" smtClean="0">
                <a:latin typeface="+mn-ea"/>
                <a:ea typeface="+mn-ea"/>
              </a:rPr>
              <a:t> 사이트로 최초 접속한 사용자의 방문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가입자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이벤트현황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매출현황 통계</a:t>
            </a:r>
            <a:endParaRPr kumimoji="0" lang="en-US" altLang="ko-KR" sz="1000" dirty="0" smtClean="0">
              <a:latin typeface="+mn-ea"/>
              <a:ea typeface="+mn-ea"/>
            </a:endParaRP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각 항목의 </a:t>
            </a:r>
            <a:r>
              <a:rPr kumimoji="0" lang="ko-KR" altLang="en-US" sz="1000" dirty="0" err="1" smtClean="0">
                <a:latin typeface="+mn-ea"/>
                <a:ea typeface="+mn-ea"/>
              </a:rPr>
              <a:t>클릭시</a:t>
            </a:r>
            <a:r>
              <a:rPr kumimoji="0" lang="en-US" altLang="ko-KR" sz="1000" dirty="0" smtClean="0">
                <a:latin typeface="+mn-ea"/>
                <a:ea typeface="+mn-ea"/>
              </a:rPr>
              <a:t> </a:t>
            </a:r>
            <a:r>
              <a:rPr kumimoji="0" lang="ko-KR" altLang="en-US" sz="1000" dirty="0" smtClean="0">
                <a:latin typeface="+mn-ea"/>
                <a:ea typeface="+mn-ea"/>
              </a:rPr>
              <a:t>회원 정보 연동하여 회원 상세 정보 조회 가능 </a:t>
            </a:r>
            <a:r>
              <a:rPr kumimoji="0" lang="en-US" altLang="ko-KR" sz="1000" dirty="0" smtClean="0">
                <a:latin typeface="+mn-ea"/>
                <a:ea typeface="+mn-ea"/>
              </a:rPr>
              <a:t>: </a:t>
            </a:r>
            <a:r>
              <a:rPr kumimoji="0" lang="ko-KR" altLang="en-US" sz="1000" dirty="0" smtClean="0">
                <a:latin typeface="+mn-ea"/>
                <a:ea typeface="+mn-ea"/>
              </a:rPr>
              <a:t>개인별 마케팅 활동 가능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256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185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사이트현황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해당 기간 사이트의 접속 관련 통계 </a:t>
            </a:r>
            <a:r>
              <a:rPr kumimoji="0" lang="en-US" altLang="ko-KR" sz="1000" dirty="0" smtClean="0">
                <a:latin typeface="+mn-ea"/>
                <a:ea typeface="+mn-ea"/>
              </a:rPr>
              <a:t>(</a:t>
            </a:r>
            <a:r>
              <a:rPr kumimoji="0" lang="ko-KR" altLang="en-US" sz="1000" dirty="0" smtClean="0">
                <a:latin typeface="+mn-ea"/>
                <a:ea typeface="+mn-ea"/>
              </a:rPr>
              <a:t>인기페이지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유입채널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인기키워드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인기</a:t>
            </a:r>
            <a:r>
              <a:rPr kumimoji="0" lang="en-US" altLang="ko-KR" sz="1000" dirty="0" smtClean="0">
                <a:latin typeface="+mn-ea"/>
                <a:ea typeface="+mn-ea"/>
              </a:rPr>
              <a:t>SNS, </a:t>
            </a:r>
            <a:r>
              <a:rPr kumimoji="0" lang="ko-KR" altLang="en-US" sz="1000" dirty="0" smtClean="0">
                <a:latin typeface="+mn-ea"/>
                <a:ea typeface="+mn-ea"/>
              </a:rPr>
              <a:t>인기카페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인기블로그</a:t>
            </a:r>
            <a:r>
              <a:rPr kumimoji="0" lang="en-US" altLang="ko-KR" sz="1000" dirty="0" smtClean="0">
                <a:latin typeface="+mn-ea"/>
                <a:ea typeface="+mn-ea"/>
              </a:rPr>
              <a:t>…)</a:t>
            </a: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내부에서 기</a:t>
            </a:r>
            <a:r>
              <a:rPr kumimoji="0" lang="en-US" altLang="ko-KR" sz="1000" dirty="0" smtClean="0">
                <a:latin typeface="+mn-ea"/>
                <a:ea typeface="+mn-ea"/>
              </a:rPr>
              <a:t> </a:t>
            </a:r>
            <a:r>
              <a:rPr kumimoji="0" lang="ko-KR" altLang="en-US" sz="1000" dirty="0" smtClean="0">
                <a:latin typeface="+mn-ea"/>
                <a:ea typeface="+mn-ea"/>
              </a:rPr>
              <a:t>운영중인 </a:t>
            </a:r>
            <a:r>
              <a:rPr kumimoji="0" lang="en-US" altLang="ko-KR" sz="1000" dirty="0" smtClean="0">
                <a:latin typeface="+mn-ea"/>
                <a:ea typeface="+mn-ea"/>
              </a:rPr>
              <a:t>SNS</a:t>
            </a:r>
            <a:r>
              <a:rPr kumimoji="0" lang="ko-KR" altLang="en-US" sz="1000" dirty="0" smtClean="0">
                <a:latin typeface="+mn-ea"/>
                <a:ea typeface="+mn-ea"/>
              </a:rPr>
              <a:t>나 카페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블로그</a:t>
            </a:r>
            <a:r>
              <a:rPr kumimoji="0" lang="ko-KR" altLang="en-US" sz="1000" dirty="0" smtClean="0">
                <a:latin typeface="+mn-ea"/>
                <a:ea typeface="+mn-ea"/>
              </a:rPr>
              <a:t> 등의 접속 정보를 활용하여 마케팅 지표로 사용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56" y="998645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19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3647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검색엔진통계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해당 기간 사이트의 검색엔진 접속 통계 </a:t>
            </a:r>
            <a:r>
              <a:rPr kumimoji="0" lang="en-US" altLang="ko-KR" sz="1000" dirty="0" smtClean="0">
                <a:latin typeface="+mn-ea"/>
                <a:ea typeface="+mn-ea"/>
              </a:rPr>
              <a:t>(</a:t>
            </a:r>
            <a:r>
              <a:rPr kumimoji="0" lang="ko-KR" altLang="en-US" sz="1000" dirty="0" smtClean="0">
                <a:latin typeface="+mn-ea"/>
                <a:ea typeface="+mn-ea"/>
              </a:rPr>
              <a:t>검색엔진 종류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</a:rPr>
              <a:t>검색어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회원정보</a:t>
            </a:r>
            <a:r>
              <a:rPr kumimoji="0" lang="en-US" altLang="ko-KR" sz="1000" dirty="0" smtClean="0">
                <a:latin typeface="+mn-ea"/>
                <a:ea typeface="+mn-ea"/>
              </a:rPr>
              <a:t>)</a:t>
            </a: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err="1" smtClean="0">
                <a:latin typeface="+mn-ea"/>
                <a:ea typeface="+mn-ea"/>
              </a:rPr>
              <a:t>검색엔진별</a:t>
            </a:r>
            <a:r>
              <a:rPr kumimoji="0" lang="ko-KR" altLang="en-US" sz="1000" dirty="0" smtClean="0">
                <a:latin typeface="+mn-ea"/>
                <a:ea typeface="+mn-ea"/>
              </a:rPr>
              <a:t> </a:t>
            </a:r>
            <a:r>
              <a:rPr kumimoji="0" lang="ko-KR" altLang="en-US" sz="1000" dirty="0" err="1" smtClean="0">
                <a:latin typeface="+mn-ea"/>
                <a:ea typeface="+mn-ea"/>
              </a:rPr>
              <a:t>검색어</a:t>
            </a:r>
            <a:r>
              <a:rPr kumimoji="0" lang="ko-KR" altLang="en-US" sz="1000" dirty="0" smtClean="0">
                <a:latin typeface="+mn-ea"/>
                <a:ea typeface="+mn-ea"/>
              </a:rPr>
              <a:t> 마케팅 정보에 활용</a:t>
            </a:r>
            <a:r>
              <a:rPr kumimoji="0" lang="en-US" altLang="ko-KR" sz="1000" dirty="0" smtClean="0">
                <a:latin typeface="+mn-ea"/>
                <a:ea typeface="+mn-ea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</a:rPr>
              <a:t>고객 상세 정보 추출 가능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56" y="1032098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33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185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상품별통계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특정 상품 구매자의 최초 유입경로 파악</a:t>
            </a:r>
            <a:r>
              <a:rPr kumimoji="0" lang="en-US" altLang="ko-KR" sz="1000" dirty="0">
                <a:latin typeface="+mn-ea"/>
                <a:ea typeface="+mn-ea"/>
              </a:rPr>
              <a:t> </a:t>
            </a:r>
            <a:r>
              <a:rPr kumimoji="0" lang="ko-KR" altLang="en-US" sz="1000" dirty="0" smtClean="0">
                <a:latin typeface="+mn-ea"/>
                <a:ea typeface="+mn-ea"/>
              </a:rPr>
              <a:t>후 사용자 정보 추출</a:t>
            </a:r>
            <a:r>
              <a:rPr kumimoji="0" lang="en-US" altLang="ko-KR" sz="1000" dirty="0" smtClean="0">
                <a:latin typeface="+mn-ea"/>
                <a:ea typeface="+mn-ea"/>
              </a:rPr>
              <a:t>.</a:t>
            </a: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연관상품 구매 마케팅 자료로 활용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56" y="1032098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7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185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게시판통계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커뮤니티 </a:t>
            </a:r>
            <a:r>
              <a:rPr kumimoji="0" lang="ko-KR" altLang="en-US" sz="1000" dirty="0" err="1" smtClean="0">
                <a:latin typeface="+mn-ea"/>
                <a:ea typeface="+mn-ea"/>
              </a:rPr>
              <a:t>사으트에서의</a:t>
            </a:r>
            <a:r>
              <a:rPr kumimoji="0" lang="ko-KR" altLang="en-US" sz="1000" dirty="0" smtClean="0">
                <a:latin typeface="+mn-ea"/>
                <a:ea typeface="+mn-ea"/>
              </a:rPr>
              <a:t> 특정 게시판 사용자의 구매 패턴 파악</a:t>
            </a:r>
            <a:endParaRPr kumimoji="0" lang="en-US" altLang="ko-KR" sz="1000" dirty="0" smtClean="0">
              <a:latin typeface="+mn-ea"/>
              <a:ea typeface="+mn-ea"/>
            </a:endParaRP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en-US" altLang="ko-KR" sz="1000" dirty="0" smtClean="0">
                <a:latin typeface="+mn-ea"/>
                <a:ea typeface="+mn-ea"/>
              </a:rPr>
              <a:t>Cross-Domain </a:t>
            </a:r>
            <a:r>
              <a:rPr kumimoji="0" lang="ko-KR" altLang="en-US" sz="1000" dirty="0" smtClean="0">
                <a:latin typeface="+mn-ea"/>
                <a:ea typeface="+mn-ea"/>
              </a:rPr>
              <a:t>개념 적용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48" y="1020813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2522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3647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회원가입통계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err="1" smtClean="0">
                <a:latin typeface="+mn-ea"/>
                <a:ea typeface="+mn-ea"/>
              </a:rPr>
              <a:t>사이트별</a:t>
            </a:r>
            <a:r>
              <a:rPr kumimoji="0" lang="ko-KR" altLang="en-US" sz="1000" dirty="0" smtClean="0">
                <a:latin typeface="+mn-ea"/>
                <a:ea typeface="+mn-ea"/>
              </a:rPr>
              <a:t> 가입 회원 통계 리스트</a:t>
            </a:r>
            <a:endParaRPr kumimoji="0" lang="en-US" altLang="ko-KR" sz="1000" dirty="0" smtClean="0">
              <a:latin typeface="+mn-ea"/>
              <a:ea typeface="+mn-ea"/>
            </a:endParaRP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특정일자 가입 회원의 구매리스트 정보 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해당일자의 이벤트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캠페인 활동 내역 확인 가능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019191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214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1852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이벤트통계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기간별 이벤트 통계데이터</a:t>
            </a:r>
            <a:endParaRPr kumimoji="0" lang="en-US" altLang="ko-KR" sz="1000" dirty="0" smtClean="0">
              <a:latin typeface="+mn-ea"/>
              <a:ea typeface="+mn-ea"/>
            </a:endParaRPr>
          </a:p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진행된 이벤트의 </a:t>
            </a:r>
            <a:r>
              <a:rPr kumimoji="0" lang="en-US" altLang="ko-KR" sz="1000" dirty="0" smtClean="0">
                <a:latin typeface="+mn-ea"/>
                <a:ea typeface="+mn-ea"/>
              </a:rPr>
              <a:t>ROI </a:t>
            </a:r>
            <a:r>
              <a:rPr kumimoji="0" lang="ko-KR" altLang="en-US" sz="1000" dirty="0" smtClean="0">
                <a:latin typeface="+mn-ea"/>
                <a:ea typeface="+mn-ea"/>
              </a:rPr>
              <a:t>측정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032098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22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6853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페이지 유입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유출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기간별 특정 페이지의 유입</a:t>
            </a:r>
            <a:r>
              <a:rPr kumimoji="0" lang="en-US" altLang="ko-KR" sz="1000" dirty="0" smtClean="0">
                <a:latin typeface="+mn-ea"/>
                <a:ea typeface="+mn-ea"/>
              </a:rPr>
              <a:t>/</a:t>
            </a:r>
            <a:r>
              <a:rPr kumimoji="0" lang="ko-KR" altLang="en-US" sz="1000" dirty="0" smtClean="0">
                <a:latin typeface="+mn-ea"/>
                <a:ea typeface="+mn-ea"/>
              </a:rPr>
              <a:t>유출 경로 파악</a:t>
            </a:r>
            <a:r>
              <a:rPr kumimoji="0" lang="en-US" altLang="ko-KR" sz="1000" dirty="0" smtClean="0">
                <a:latin typeface="+mn-ea"/>
                <a:ea typeface="+mn-ea"/>
              </a:rPr>
              <a:t/>
            </a:r>
            <a:br>
              <a:rPr kumimoji="0" lang="en-US" altLang="ko-KR" sz="1000" dirty="0" smtClean="0">
                <a:latin typeface="+mn-ea"/>
                <a:ea typeface="+mn-ea"/>
              </a:rPr>
            </a:br>
            <a:r>
              <a:rPr kumimoji="0" lang="en-US" altLang="ko-KR" sz="1000" dirty="0" smtClean="0">
                <a:latin typeface="+mn-ea"/>
                <a:ea typeface="+mn-ea"/>
              </a:rPr>
              <a:t>-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특정 이벤트 페이지의 유입 경로 파악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/>
            </a:r>
            <a:b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</a:b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-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해당 페이지를 접속한 사용자의 각종 </a:t>
            </a:r>
            <a:r>
              <a:rPr kumimoji="0" lang="ko-KR" altLang="en-US" sz="1000" dirty="0" err="1" smtClean="0">
                <a:latin typeface="+mn-ea"/>
                <a:ea typeface="+mn-ea"/>
                <a:sym typeface="Wingdings" panose="05000000000000000000" pitchFamily="2" charset="2"/>
              </a:rPr>
              <a:t>전환율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(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가입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이벤트신청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,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결제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, </a:t>
            </a:r>
            <a:r>
              <a:rPr kumimoji="0" lang="ko-KR" altLang="en-US" sz="1000" dirty="0" err="1" smtClean="0">
                <a:latin typeface="+mn-ea"/>
                <a:ea typeface="+mn-ea"/>
                <a:sym typeface="Wingdings" panose="05000000000000000000" pitchFamily="2" charset="2"/>
              </a:rPr>
              <a:t>페이지뷰</a:t>
            </a: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…)</a:t>
            </a:r>
            <a:b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</a:br>
            <a:r>
              <a:rPr kumimoji="0" lang="en-US" altLang="ko-KR" sz="1000" dirty="0" smtClean="0">
                <a:latin typeface="+mn-ea"/>
                <a:ea typeface="+mn-ea"/>
                <a:sym typeface="Wingdings" panose="05000000000000000000" pitchFamily="2" charset="2"/>
              </a:rPr>
              <a:t>- 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해당페이지에서 </a:t>
            </a:r>
            <a:r>
              <a:rPr kumimoji="0" lang="ko-KR" altLang="en-US" sz="1000" dirty="0" err="1" smtClean="0">
                <a:latin typeface="+mn-ea"/>
                <a:ea typeface="+mn-ea"/>
                <a:sym typeface="Wingdings" panose="05000000000000000000" pitchFamily="2" charset="2"/>
              </a:rPr>
              <a:t>이탈율</a:t>
            </a:r>
            <a:r>
              <a:rPr kumimoji="0" lang="ko-KR" altLang="en-US" sz="1000" dirty="0" smtClean="0">
                <a:latin typeface="+mn-ea"/>
                <a:ea typeface="+mn-ea"/>
                <a:sym typeface="Wingdings" panose="05000000000000000000" pitchFamily="2" charset="2"/>
              </a:rPr>
              <a:t> 파악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980728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02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3" y="112692"/>
            <a:ext cx="4438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latin typeface="+mj-ea"/>
                <a:ea typeface="+mj-ea"/>
              </a:rPr>
              <a:t>I. </a:t>
            </a:r>
            <a:r>
              <a:rPr kumimoji="0" lang="en-US" altLang="ko-KR" sz="1600" b="1" dirty="0" smtClean="0">
                <a:latin typeface="+mj-ea"/>
                <a:ea typeface="+mj-ea"/>
              </a:rPr>
              <a:t>Hackers Ivy Project </a:t>
            </a:r>
            <a:endParaRPr kumimoji="0" lang="ko-KR" altLang="en-US" sz="1600" b="1" dirty="0">
              <a:latin typeface="+mj-ea"/>
              <a:ea typeface="+mj-ea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20681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 </a:t>
            </a:r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결제전환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7" y="5661248"/>
            <a:ext cx="8301607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기간별 결제관련 내용 통계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002010"/>
            <a:ext cx="8229600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9442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3580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개요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Ⅱ. </a:t>
            </a:r>
            <a:r>
              <a:rPr lang="ko-KR" altLang="en-US" sz="1600" b="1" dirty="0">
                <a:latin typeface="+mj-ea"/>
                <a:ea typeface="+mj-ea"/>
              </a:rPr>
              <a:t>순천향대학교 병원 </a:t>
            </a:r>
            <a:r>
              <a:rPr lang="en-US" altLang="ko-KR" sz="1600" b="1" dirty="0">
                <a:latin typeface="+mj-ea"/>
                <a:ea typeface="+mj-ea"/>
              </a:rPr>
              <a:t>DW System</a:t>
            </a:r>
            <a:endParaRPr lang="ko-KR" altLang="en-US" sz="1600" b="1" dirty="0">
              <a:latin typeface="+mj-ea"/>
              <a:ea typeface="+mj-ea"/>
            </a:endParaRPr>
          </a:p>
        </p:txBody>
      </p:sp>
      <p:graphicFrame>
        <p:nvGraphicFramePr>
          <p:cNvPr id="5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91699"/>
              </p:ext>
            </p:extLst>
          </p:nvPr>
        </p:nvGraphicFramePr>
        <p:xfrm>
          <a:off x="250304" y="1124745"/>
          <a:ext cx="8590656" cy="2807554"/>
        </p:xfrm>
        <a:graphic>
          <a:graphicData uri="http://schemas.openxmlformats.org/drawingml/2006/table">
            <a:tbl>
              <a:tblPr/>
              <a:tblGrid>
                <a:gridCol w="1575443"/>
                <a:gridCol w="7015213"/>
              </a:tblGrid>
              <a:tr h="3600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구분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    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4658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시스템명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순천향대학교 병원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DW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System 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2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 개요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순천향대학교 병원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DW System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유지보수 및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일부 신규 개발</a:t>
                      </a:r>
                      <a:endParaRPr kumimoji="0"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61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Role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PM : </a:t>
                      </a:r>
                      <a:r>
                        <a:rPr kumimoji="0"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정보계팀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팀장으로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 유지보수 프로젝트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PM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역할 병행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6213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§"/>
                        <a:defRPr/>
                      </a:pP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DA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QA</a:t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현업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인터뷰를 통한 업무 분석 및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EIS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화면 설계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DW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시스템 전체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Database Modeling</a:t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보고서 데이터 검증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작업을 통한 데이터 신뢰도 확보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기간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2016.08 ~ 2017.01</a:t>
                      </a: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03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/>
          <p:cNvSpPr/>
          <p:nvPr/>
        </p:nvSpPr>
        <p:spPr>
          <a:xfrm>
            <a:off x="2907492" y="1247434"/>
            <a:ext cx="3695985" cy="3792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sz="1050" b="1" kern="0" dirty="0">
                <a:solidFill>
                  <a:prstClr val="black"/>
                </a:solidFill>
                <a:latin typeface="맑은 고딕"/>
                <a:ea typeface="맑은 고딕"/>
              </a:rPr>
              <a:t>Data Warehouse</a:t>
            </a:r>
            <a:endParaRPr lang="ko-KR" altLang="en-US" sz="1050" b="1" kern="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251520" y="1213608"/>
            <a:ext cx="8712968" cy="4735672"/>
            <a:chOff x="789978" y="1213608"/>
            <a:chExt cx="7886478" cy="4395021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3221573" y="1608653"/>
              <a:ext cx="3336900" cy="3476547"/>
            </a:xfrm>
            <a:prstGeom prst="roundRect">
              <a:avLst>
                <a:gd name="adj" fmla="val 3083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en-US" altLang="ko-KR" sz="105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/>
                <a:ea typeface="HY견고딕" pitchFamily="18" charset="-127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2605818" y="3516383"/>
              <a:ext cx="528062" cy="1229138"/>
            </a:xfrm>
            <a:prstGeom prst="roundRect">
              <a:avLst>
                <a:gd name="adj" fmla="val 3083"/>
              </a:avLst>
            </a:prstGeom>
            <a:solidFill>
              <a:srgbClr val="1F497D">
                <a:lumMod val="20000"/>
                <a:lumOff val="8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900" b="1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ETL</a:t>
              </a:r>
              <a:endParaRPr lang="en-US" altLang="ko-KR" sz="900" b="1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7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(SAP </a:t>
              </a:r>
              <a:r>
                <a:rPr lang="en-US" altLang="ko-KR" sz="700" b="1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DS)</a:t>
              </a:r>
              <a:endParaRPr lang="en-US" altLang="ko-KR" sz="700" b="1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3304706" y="2159219"/>
              <a:ext cx="670838" cy="2400408"/>
            </a:xfrm>
            <a:prstGeom prst="rect">
              <a:avLst/>
            </a:prstGeom>
            <a:solidFill>
              <a:srgbClr val="F3F2D9"/>
            </a:solidFill>
            <a:ln w="6350">
              <a:solidFill>
                <a:srgbClr val="EEECE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43332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400" kern="0" dirty="0">
                <a:solidFill>
                  <a:srgbClr val="333333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7" name="Rectangle 12"/>
            <p:cNvSpPr>
              <a:spLocks noChangeArrowheads="1"/>
            </p:cNvSpPr>
            <p:nvPr/>
          </p:nvSpPr>
          <p:spPr bwMode="auto">
            <a:xfrm>
              <a:off x="2513246" y="3818582"/>
              <a:ext cx="1376315" cy="731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4664" tIns="42332" rIns="84664" bIns="42332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l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700" dirty="0">
                  <a:solidFill>
                    <a:prstClr val="black"/>
                  </a:solidFill>
                  <a:latin typeface="맑은 고딕"/>
                  <a:ea typeface="맑은 고딕"/>
                </a:rPr>
                <a:t>- </a:t>
              </a: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초기적재</a:t>
              </a:r>
              <a:endParaRPr lang="en-US" altLang="ko-KR" sz="700" dirty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marL="177800" indent="-88900" algn="l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추출</a:t>
              </a:r>
              <a:endParaRPr lang="ko-KR" altLang="en-US" sz="700" dirty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marL="177800" indent="-88900" algn="l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변환</a:t>
              </a:r>
              <a:endParaRPr lang="en-US" altLang="ko-KR" sz="700" dirty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marL="177800" indent="-88900" algn="l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Tx/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적재</a:t>
              </a:r>
              <a:endParaRPr lang="en-US" altLang="ko-KR" sz="700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4368400" y="2159219"/>
              <a:ext cx="1151166" cy="2400408"/>
            </a:xfrm>
            <a:prstGeom prst="rect">
              <a:avLst/>
            </a:prstGeom>
            <a:solidFill>
              <a:srgbClr val="F3F2D9"/>
            </a:solidFill>
            <a:ln w="6350">
              <a:solidFill>
                <a:srgbClr val="EEECE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43332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400" kern="0" dirty="0">
                <a:solidFill>
                  <a:srgbClr val="333333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5912741" y="2159219"/>
              <a:ext cx="576160" cy="2400408"/>
            </a:xfrm>
            <a:prstGeom prst="rect">
              <a:avLst/>
            </a:prstGeom>
            <a:solidFill>
              <a:srgbClr val="F3F2D9"/>
            </a:solidFill>
            <a:ln w="6350">
              <a:solidFill>
                <a:srgbClr val="EEECE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43332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400" kern="0" dirty="0">
                <a:solidFill>
                  <a:srgbClr val="333333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10" name="AutoShape 52"/>
            <p:cNvSpPr>
              <a:spLocks noChangeArrowheads="1"/>
            </p:cNvSpPr>
            <p:nvPr/>
          </p:nvSpPr>
          <p:spPr bwMode="auto">
            <a:xfrm>
              <a:off x="3335931" y="2691344"/>
              <a:ext cx="617105" cy="1506451"/>
            </a:xfrm>
            <a:prstGeom prst="can">
              <a:avLst>
                <a:gd name="adj" fmla="val 28027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1F497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en-US" sz="500" b="1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11" name="AutoShape 183"/>
            <p:cNvSpPr>
              <a:spLocks noChangeArrowheads="1"/>
            </p:cNvSpPr>
            <p:nvPr/>
          </p:nvSpPr>
          <p:spPr bwMode="auto">
            <a:xfrm>
              <a:off x="5982967" y="2722918"/>
              <a:ext cx="417975" cy="1474877"/>
            </a:xfrm>
            <a:prstGeom prst="can">
              <a:avLst>
                <a:gd name="adj" fmla="val 20992"/>
              </a:avLst>
            </a:prstGeom>
            <a:gradFill rotWithShape="0">
              <a:gsLst>
                <a:gs pos="10000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1F497D"/>
              </a:solidFill>
              <a:round/>
              <a:headEnd/>
              <a:tailEnd/>
            </a:ln>
            <a:effectLst/>
            <a:extLst/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b="1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grpSp>
          <p:nvGrpSpPr>
            <p:cNvPr id="12" name="Group 184"/>
            <p:cNvGrpSpPr>
              <a:grpSpLocks/>
            </p:cNvGrpSpPr>
            <p:nvPr/>
          </p:nvGrpSpPr>
          <p:grpSpPr bwMode="auto">
            <a:xfrm>
              <a:off x="6038710" y="3185430"/>
              <a:ext cx="302887" cy="637240"/>
              <a:chOff x="4754" y="2960"/>
              <a:chExt cx="581" cy="458"/>
            </a:xfrm>
          </p:grpSpPr>
          <p:sp>
            <p:nvSpPr>
              <p:cNvPr id="111" name="AutoShape 185"/>
              <p:cNvSpPr>
                <a:spLocks noChangeArrowheads="1"/>
              </p:cNvSpPr>
              <p:nvPr/>
            </p:nvSpPr>
            <p:spPr bwMode="auto">
              <a:xfrm flipV="1">
                <a:off x="4985" y="2965"/>
                <a:ext cx="119" cy="453"/>
              </a:xfrm>
              <a:prstGeom prst="roundRect">
                <a:avLst>
                  <a:gd name="adj" fmla="val 0"/>
                </a:avLst>
              </a:prstGeom>
              <a:solidFill>
                <a:srgbClr val="EEECE1"/>
              </a:solidFill>
              <a:ln w="9525">
                <a:solidFill>
                  <a:sysClr val="window" lastClr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wrap="none" lIns="84664" tIns="42332" rIns="84664" bIns="42332"/>
              <a:lstStyle>
                <a:lvl1pPr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42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846138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270000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169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1510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6082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0654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5226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90000"/>
                  <a:buFont typeface="Monotype Sorts" pitchFamily="2" charset="2"/>
                  <a:buNone/>
                  <a:defRPr/>
                </a:pPr>
                <a:endParaRPr lang="ko-KR" altLang="ko-KR" sz="500" b="1" kern="0" dirty="0">
                  <a:solidFill>
                    <a:srgbClr val="52703A"/>
                  </a:solidFill>
                  <a:latin typeface="맑은 고딕"/>
                  <a:ea typeface="굴림체" pitchFamily="49" charset="-127"/>
                </a:endParaRPr>
              </a:p>
            </p:txBody>
          </p:sp>
          <p:sp>
            <p:nvSpPr>
              <p:cNvPr id="112" name="AutoShape 186"/>
              <p:cNvSpPr>
                <a:spLocks noChangeArrowheads="1"/>
              </p:cNvSpPr>
              <p:nvPr/>
            </p:nvSpPr>
            <p:spPr bwMode="auto">
              <a:xfrm flipV="1">
                <a:off x="5206" y="2960"/>
                <a:ext cx="129" cy="128"/>
              </a:xfrm>
              <a:prstGeom prst="roundRect">
                <a:avLst>
                  <a:gd name="adj" fmla="val 0"/>
                </a:avLst>
              </a:prstGeom>
              <a:solidFill>
                <a:srgbClr val="EEECE1"/>
              </a:solidFill>
              <a:ln w="9525">
                <a:solidFill>
                  <a:sysClr val="window" lastClr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wrap="none" lIns="84664" tIns="42332" rIns="84664" bIns="42332"/>
              <a:lstStyle>
                <a:lvl1pPr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42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846138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270000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169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1510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6082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0654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5226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90000"/>
                  <a:buFont typeface="Monotype Sorts" pitchFamily="2" charset="2"/>
                  <a:buNone/>
                  <a:defRPr/>
                </a:pPr>
                <a:endParaRPr lang="ko-KR" altLang="ko-KR" sz="500" b="1" kern="0" dirty="0">
                  <a:solidFill>
                    <a:srgbClr val="52703A"/>
                  </a:solidFill>
                  <a:latin typeface="맑은 고딕"/>
                  <a:ea typeface="굴림체" pitchFamily="49" charset="-127"/>
                </a:endParaRPr>
              </a:p>
            </p:txBody>
          </p:sp>
          <p:sp>
            <p:nvSpPr>
              <p:cNvPr id="113" name="AutoShape 187"/>
              <p:cNvSpPr>
                <a:spLocks noChangeArrowheads="1"/>
              </p:cNvSpPr>
              <p:nvPr/>
            </p:nvSpPr>
            <p:spPr bwMode="auto">
              <a:xfrm flipV="1">
                <a:off x="5206" y="3284"/>
                <a:ext cx="129" cy="128"/>
              </a:xfrm>
              <a:prstGeom prst="roundRect">
                <a:avLst>
                  <a:gd name="adj" fmla="val 0"/>
                </a:avLst>
              </a:prstGeom>
              <a:solidFill>
                <a:srgbClr val="EEECE1"/>
              </a:solidFill>
              <a:ln w="9525">
                <a:solidFill>
                  <a:sysClr val="window" lastClr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wrap="none" lIns="84664" tIns="42332" rIns="84664" bIns="42332"/>
              <a:lstStyle>
                <a:lvl1pPr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42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846138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270000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169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1510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6082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0654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5226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90000"/>
                  <a:buFont typeface="Monotype Sorts" pitchFamily="2" charset="2"/>
                  <a:buNone/>
                  <a:defRPr/>
                </a:pPr>
                <a:endParaRPr lang="ko-KR" altLang="ko-KR" sz="500" b="1" kern="0" dirty="0">
                  <a:solidFill>
                    <a:srgbClr val="52703A"/>
                  </a:solidFill>
                  <a:latin typeface="맑은 고딕"/>
                  <a:ea typeface="굴림체" pitchFamily="49" charset="-127"/>
                </a:endParaRPr>
              </a:p>
            </p:txBody>
          </p:sp>
          <p:sp>
            <p:nvSpPr>
              <p:cNvPr id="114" name="Rectangle 188"/>
              <p:cNvSpPr>
                <a:spLocks noChangeArrowheads="1"/>
              </p:cNvSpPr>
              <p:nvPr/>
            </p:nvSpPr>
            <p:spPr bwMode="auto">
              <a:xfrm>
                <a:off x="5063" y="3025"/>
                <a:ext cx="94" cy="289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0" rIns="18000" bIns="0" anchor="ctr">
                <a:spAutoFit/>
              </a:bodyPr>
              <a:lstStyle/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endParaRPr kumimoji="0" lang="ko-KR" altLang="en-US" kern="0" dirty="0">
                  <a:solidFill>
                    <a:prstClr val="black"/>
                  </a:solidFill>
                  <a:latin typeface="맑은 고딕"/>
                  <a:ea typeface="굴림" pitchFamily="50" charset="-127"/>
                </a:endParaRPr>
              </a:p>
            </p:txBody>
          </p:sp>
          <p:sp>
            <p:nvSpPr>
              <p:cNvPr id="115" name="Rectangle 189"/>
              <p:cNvSpPr>
                <a:spLocks noChangeArrowheads="1"/>
              </p:cNvSpPr>
              <p:nvPr/>
            </p:nvSpPr>
            <p:spPr bwMode="auto">
              <a:xfrm>
                <a:off x="5063" y="3069"/>
                <a:ext cx="94" cy="289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0" rIns="18000" bIns="0" anchor="ctr">
                <a:spAutoFit/>
              </a:bodyPr>
              <a:lstStyle/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endParaRPr kumimoji="0" lang="ko-KR" altLang="en-US" kern="0" dirty="0">
                  <a:solidFill>
                    <a:prstClr val="black"/>
                  </a:solidFill>
                  <a:latin typeface="맑은 고딕"/>
                  <a:ea typeface="굴림" pitchFamily="50" charset="-127"/>
                </a:endParaRPr>
              </a:p>
            </p:txBody>
          </p:sp>
          <p:cxnSp>
            <p:nvCxnSpPr>
              <p:cNvPr id="116" name="AutoShape 190"/>
              <p:cNvCxnSpPr>
                <a:cxnSpLocks noChangeShapeType="1"/>
                <a:stCxn id="114" idx="3"/>
                <a:endCxn id="112" idx="0"/>
              </p:cNvCxnSpPr>
              <p:nvPr/>
            </p:nvCxnSpPr>
            <p:spPr bwMode="auto">
              <a:xfrm flipV="1">
                <a:off x="5157" y="3088"/>
                <a:ext cx="114" cy="82"/>
              </a:xfrm>
              <a:prstGeom prst="bentConnector2">
                <a:avLst/>
              </a:prstGeom>
              <a:noFill/>
              <a:ln w="12700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7" name="AutoShape 191"/>
              <p:cNvCxnSpPr>
                <a:cxnSpLocks noChangeShapeType="1"/>
                <a:stCxn id="115" idx="3"/>
                <a:endCxn id="113" idx="2"/>
              </p:cNvCxnSpPr>
              <p:nvPr/>
            </p:nvCxnSpPr>
            <p:spPr bwMode="auto">
              <a:xfrm>
                <a:off x="5157" y="3214"/>
                <a:ext cx="114" cy="70"/>
              </a:xfrm>
              <a:prstGeom prst="bentConnector2">
                <a:avLst/>
              </a:prstGeom>
              <a:noFill/>
              <a:ln w="12700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8" name="AutoShape 192"/>
              <p:cNvSpPr>
                <a:spLocks noChangeArrowheads="1"/>
              </p:cNvSpPr>
              <p:nvPr/>
            </p:nvSpPr>
            <p:spPr bwMode="auto">
              <a:xfrm flipH="1" flipV="1">
                <a:off x="4754" y="2960"/>
                <a:ext cx="130" cy="128"/>
              </a:xfrm>
              <a:prstGeom prst="roundRect">
                <a:avLst>
                  <a:gd name="adj" fmla="val 0"/>
                </a:avLst>
              </a:prstGeom>
              <a:solidFill>
                <a:srgbClr val="EEECE1"/>
              </a:solidFill>
              <a:ln w="9525">
                <a:solidFill>
                  <a:sysClr val="window" lastClr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wrap="none" lIns="84664" tIns="42332" rIns="84664" bIns="42332"/>
              <a:lstStyle>
                <a:lvl1pPr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42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846138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270000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169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1510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6082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0654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5226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90000"/>
                  <a:buFont typeface="Monotype Sorts" pitchFamily="2" charset="2"/>
                  <a:buNone/>
                  <a:defRPr/>
                </a:pPr>
                <a:endParaRPr lang="ko-KR" altLang="ko-KR" sz="500" b="1" kern="0" dirty="0">
                  <a:solidFill>
                    <a:srgbClr val="52703A"/>
                  </a:solidFill>
                  <a:latin typeface="맑은 고딕"/>
                  <a:ea typeface="굴림체" pitchFamily="49" charset="-127"/>
                </a:endParaRPr>
              </a:p>
            </p:txBody>
          </p:sp>
          <p:sp>
            <p:nvSpPr>
              <p:cNvPr id="119" name="AutoShape 193"/>
              <p:cNvSpPr>
                <a:spLocks noChangeArrowheads="1"/>
              </p:cNvSpPr>
              <p:nvPr/>
            </p:nvSpPr>
            <p:spPr bwMode="auto">
              <a:xfrm flipH="1" flipV="1">
                <a:off x="4754" y="3284"/>
                <a:ext cx="130" cy="128"/>
              </a:xfrm>
              <a:prstGeom prst="roundRect">
                <a:avLst>
                  <a:gd name="adj" fmla="val 0"/>
                </a:avLst>
              </a:prstGeom>
              <a:solidFill>
                <a:srgbClr val="EEECE1"/>
              </a:solidFill>
              <a:ln w="9525">
                <a:solidFill>
                  <a:sysClr val="window" lastClr="FFFF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wrap="none" lIns="84664" tIns="42332" rIns="84664" bIns="42332"/>
              <a:lstStyle>
                <a:lvl1pPr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42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846138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270000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1693863" defTabSz="846138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1510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6082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0654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522663" defTabSz="846138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90000"/>
                  <a:buFont typeface="Monotype Sorts" pitchFamily="2" charset="2"/>
                  <a:buNone/>
                  <a:defRPr/>
                </a:pPr>
                <a:endParaRPr lang="ko-KR" altLang="ko-KR" sz="500" b="1" kern="0" dirty="0">
                  <a:solidFill>
                    <a:srgbClr val="52703A"/>
                  </a:solidFill>
                  <a:latin typeface="맑은 고딕"/>
                  <a:ea typeface="굴림체" pitchFamily="49" charset="-127"/>
                </a:endParaRPr>
              </a:p>
            </p:txBody>
          </p:sp>
          <p:sp>
            <p:nvSpPr>
              <p:cNvPr id="120" name="Rectangle 194"/>
              <p:cNvSpPr>
                <a:spLocks noChangeArrowheads="1"/>
              </p:cNvSpPr>
              <p:nvPr/>
            </p:nvSpPr>
            <p:spPr bwMode="auto">
              <a:xfrm flipH="1">
                <a:off x="4985" y="3025"/>
                <a:ext cx="94" cy="289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0" rIns="18000" bIns="0" anchor="ctr">
                <a:spAutoFit/>
              </a:bodyPr>
              <a:lstStyle/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endParaRPr kumimoji="0" lang="ko-KR" altLang="en-US" kern="0" dirty="0">
                  <a:solidFill>
                    <a:prstClr val="black"/>
                  </a:solidFill>
                  <a:latin typeface="맑은 고딕"/>
                  <a:ea typeface="굴림" pitchFamily="50" charset="-127"/>
                </a:endParaRPr>
              </a:p>
            </p:txBody>
          </p:sp>
          <p:sp>
            <p:nvSpPr>
              <p:cNvPr id="121" name="Rectangle 195"/>
              <p:cNvSpPr>
                <a:spLocks noChangeArrowheads="1"/>
              </p:cNvSpPr>
              <p:nvPr/>
            </p:nvSpPr>
            <p:spPr bwMode="auto">
              <a:xfrm flipH="1">
                <a:off x="4985" y="3069"/>
                <a:ext cx="94" cy="289"/>
              </a:xfrm>
              <a:prstGeom prst="rect">
                <a:avLst/>
              </a:prstGeom>
              <a:solidFill>
                <a:srgbClr val="EEECE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8000" tIns="0" rIns="18000" bIns="0" anchor="ctr">
                <a:spAutoFit/>
              </a:bodyPr>
              <a:lstStyle/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endParaRPr kumimoji="0" lang="ko-KR" altLang="en-US" kern="0" dirty="0">
                  <a:solidFill>
                    <a:prstClr val="black"/>
                  </a:solidFill>
                  <a:latin typeface="맑은 고딕"/>
                  <a:ea typeface="굴림" pitchFamily="50" charset="-127"/>
                </a:endParaRPr>
              </a:p>
            </p:txBody>
          </p:sp>
          <p:cxnSp>
            <p:nvCxnSpPr>
              <p:cNvPr id="122" name="AutoShape 196"/>
              <p:cNvCxnSpPr>
                <a:cxnSpLocks noChangeShapeType="1"/>
                <a:stCxn id="120" idx="3"/>
                <a:endCxn id="118" idx="0"/>
              </p:cNvCxnSpPr>
              <p:nvPr/>
            </p:nvCxnSpPr>
            <p:spPr bwMode="auto">
              <a:xfrm rot="10800000">
                <a:off x="4819" y="3088"/>
                <a:ext cx="166" cy="82"/>
              </a:xfrm>
              <a:prstGeom prst="bentConnector2">
                <a:avLst/>
              </a:prstGeom>
              <a:noFill/>
              <a:ln w="12700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3" name="AutoShape 197"/>
              <p:cNvCxnSpPr>
                <a:cxnSpLocks noChangeShapeType="1"/>
                <a:stCxn id="121" idx="3"/>
                <a:endCxn id="119" idx="2"/>
              </p:cNvCxnSpPr>
              <p:nvPr/>
            </p:nvCxnSpPr>
            <p:spPr bwMode="auto">
              <a:xfrm rot="10800000" flipV="1">
                <a:off x="4819" y="3213"/>
                <a:ext cx="166" cy="70"/>
              </a:xfrm>
              <a:prstGeom prst="bentConnector2">
                <a:avLst/>
              </a:prstGeom>
              <a:noFill/>
              <a:ln w="12700">
                <a:solidFill>
                  <a:sysClr val="windowText" lastClr="000000">
                    <a:lumMod val="65000"/>
                    <a:lumOff val="35000"/>
                  </a:sys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3" name="AutoShape 198"/>
            <p:cNvSpPr>
              <a:spLocks noChangeArrowheads="1"/>
            </p:cNvSpPr>
            <p:nvPr/>
          </p:nvSpPr>
          <p:spPr bwMode="auto">
            <a:xfrm>
              <a:off x="4420358" y="2637161"/>
              <a:ext cx="1047248" cy="1691164"/>
            </a:xfrm>
            <a:prstGeom prst="can">
              <a:avLst>
                <a:gd name="adj" fmla="val 32497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1F497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600" b="1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14" name="Line 243"/>
            <p:cNvSpPr>
              <a:spLocks noChangeShapeType="1"/>
            </p:cNvSpPr>
            <p:nvPr/>
          </p:nvSpPr>
          <p:spPr bwMode="auto">
            <a:xfrm flipV="1">
              <a:off x="2520149" y="3432333"/>
              <a:ext cx="725934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2700" dir="16200000" algn="ctr" rotWithShape="0">
                      <a:srgbClr val="2A91BA"/>
                    </a:outerShdw>
                  </a:effectLst>
                </a14:hiddenEffects>
              </a:ext>
            </a:extLst>
          </p:spPr>
          <p:txBody>
            <a:bodyPr wrap="square" lIns="92061" tIns="46031" rIns="92061" bIns="46031">
              <a:spAutoFit/>
            </a:bodyPr>
            <a:lstStyle/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endParaRPr lang="ko-KR" altLang="en-US" dirty="0">
                <a:solidFill>
                  <a:prstClr val="black"/>
                </a:solidFill>
                <a:latin typeface="맑은 고딕"/>
                <a:ea typeface="굴림" pitchFamily="50" charset="-127"/>
              </a:endParaRPr>
            </a:p>
          </p:txBody>
        </p:sp>
        <p:grpSp>
          <p:nvGrpSpPr>
            <p:cNvPr id="15" name="Group 284"/>
            <p:cNvGrpSpPr>
              <a:grpSpLocks/>
            </p:cNvGrpSpPr>
            <p:nvPr/>
          </p:nvGrpSpPr>
          <p:grpSpPr bwMode="auto">
            <a:xfrm>
              <a:off x="4525429" y="2919740"/>
              <a:ext cx="819787" cy="1170474"/>
              <a:chOff x="3075" y="1888"/>
              <a:chExt cx="816" cy="1179"/>
            </a:xfrm>
          </p:grpSpPr>
          <p:sp>
            <p:nvSpPr>
              <p:cNvPr id="94" name="Rectangle 267"/>
              <p:cNvSpPr>
                <a:spLocks noChangeArrowheads="1"/>
              </p:cNvSpPr>
              <p:nvPr/>
            </p:nvSpPr>
            <p:spPr bwMode="auto">
              <a:xfrm>
                <a:off x="3075" y="2115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환자</a:t>
                </a:r>
              </a:p>
            </p:txBody>
          </p:sp>
          <p:sp>
            <p:nvSpPr>
              <p:cNvPr id="95" name="Rectangle 268"/>
              <p:cNvSpPr>
                <a:spLocks noChangeArrowheads="1"/>
              </p:cNvSpPr>
              <p:nvPr/>
            </p:nvSpPr>
            <p:spPr bwMode="auto">
              <a:xfrm>
                <a:off x="3393" y="2251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의료</a:t>
                </a:r>
              </a:p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서비스</a:t>
                </a:r>
              </a:p>
            </p:txBody>
          </p:sp>
          <p:sp>
            <p:nvSpPr>
              <p:cNvPr id="96" name="Rectangle 269"/>
              <p:cNvSpPr>
                <a:spLocks noChangeArrowheads="1"/>
              </p:cNvSpPr>
              <p:nvPr/>
            </p:nvSpPr>
            <p:spPr bwMode="auto">
              <a:xfrm>
                <a:off x="3528" y="2614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재무</a:t>
                </a:r>
              </a:p>
            </p:txBody>
          </p:sp>
          <p:sp>
            <p:nvSpPr>
              <p:cNvPr id="97" name="Rectangle 270"/>
              <p:cNvSpPr>
                <a:spLocks noChangeArrowheads="1"/>
              </p:cNvSpPr>
              <p:nvPr/>
            </p:nvSpPr>
            <p:spPr bwMode="auto">
              <a:xfrm>
                <a:off x="3120" y="2569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청구</a:t>
                </a:r>
              </a:p>
            </p:txBody>
          </p:sp>
          <p:sp>
            <p:nvSpPr>
              <p:cNvPr id="98" name="Rectangle 271"/>
              <p:cNvSpPr>
                <a:spLocks noChangeArrowheads="1"/>
              </p:cNvSpPr>
              <p:nvPr/>
            </p:nvSpPr>
            <p:spPr bwMode="auto">
              <a:xfrm>
                <a:off x="3257" y="2886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자산</a:t>
                </a:r>
              </a:p>
            </p:txBody>
          </p:sp>
          <p:sp>
            <p:nvSpPr>
              <p:cNvPr id="99" name="Rectangle 272"/>
              <p:cNvSpPr>
                <a:spLocks noChangeArrowheads="1"/>
              </p:cNvSpPr>
              <p:nvPr/>
            </p:nvSpPr>
            <p:spPr bwMode="auto">
              <a:xfrm>
                <a:off x="3301" y="1888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등록</a:t>
                </a:r>
              </a:p>
            </p:txBody>
          </p:sp>
          <p:sp>
            <p:nvSpPr>
              <p:cNvPr id="100" name="Rectangle 273"/>
              <p:cNvSpPr>
                <a:spLocks noChangeArrowheads="1"/>
              </p:cNvSpPr>
              <p:nvPr/>
            </p:nvSpPr>
            <p:spPr bwMode="auto">
              <a:xfrm>
                <a:off x="3619" y="1888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조직</a:t>
                </a:r>
              </a:p>
            </p:txBody>
          </p:sp>
          <p:cxnSp>
            <p:nvCxnSpPr>
              <p:cNvPr id="101" name="AutoShape 274"/>
              <p:cNvCxnSpPr>
                <a:cxnSpLocks noChangeShapeType="1"/>
                <a:stCxn id="94" idx="3"/>
                <a:endCxn id="95" idx="1"/>
              </p:cNvCxnSpPr>
              <p:nvPr/>
            </p:nvCxnSpPr>
            <p:spPr bwMode="auto">
              <a:xfrm>
                <a:off x="3256" y="2206"/>
                <a:ext cx="137" cy="136"/>
              </a:xfrm>
              <a:prstGeom prst="bentConnector3">
                <a:avLst>
                  <a:gd name="adj1" fmla="val 49634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2" name="AutoShape 275"/>
              <p:cNvCxnSpPr>
                <a:cxnSpLocks noChangeShapeType="1"/>
                <a:stCxn id="100" idx="2"/>
                <a:endCxn id="95" idx="0"/>
              </p:cNvCxnSpPr>
              <p:nvPr/>
            </p:nvCxnSpPr>
            <p:spPr bwMode="auto">
              <a:xfrm rot="5400000">
                <a:off x="3506" y="2047"/>
                <a:ext cx="182" cy="226"/>
              </a:xfrm>
              <a:prstGeom prst="bentConnector3">
                <a:avLst>
                  <a:gd name="adj1" fmla="val 49449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3" name="AutoShape 276"/>
              <p:cNvCxnSpPr>
                <a:cxnSpLocks noChangeShapeType="1"/>
                <a:stCxn id="95" idx="2"/>
                <a:endCxn id="97" idx="0"/>
              </p:cNvCxnSpPr>
              <p:nvPr/>
            </p:nvCxnSpPr>
            <p:spPr bwMode="auto">
              <a:xfrm rot="5400000">
                <a:off x="3279" y="2364"/>
                <a:ext cx="137" cy="273"/>
              </a:xfrm>
              <a:prstGeom prst="bentConnector3">
                <a:avLst>
                  <a:gd name="adj1" fmla="val 49634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4" name="AutoShape 277"/>
              <p:cNvCxnSpPr>
                <a:cxnSpLocks noChangeShapeType="1"/>
                <a:stCxn id="96" idx="2"/>
                <a:endCxn id="98" idx="3"/>
              </p:cNvCxnSpPr>
              <p:nvPr/>
            </p:nvCxnSpPr>
            <p:spPr bwMode="auto">
              <a:xfrm rot="5400000">
                <a:off x="3438" y="2795"/>
                <a:ext cx="182" cy="181"/>
              </a:xfrm>
              <a:prstGeom prst="bentConnector2">
                <a:avLst/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5" name="AutoShape 278"/>
              <p:cNvCxnSpPr>
                <a:cxnSpLocks noChangeShapeType="1"/>
                <a:stCxn id="97" idx="2"/>
                <a:endCxn id="98" idx="0"/>
              </p:cNvCxnSpPr>
              <p:nvPr/>
            </p:nvCxnSpPr>
            <p:spPr bwMode="auto">
              <a:xfrm rot="16200000" flipH="1">
                <a:off x="3212" y="2749"/>
                <a:ext cx="136" cy="137"/>
              </a:xfrm>
              <a:prstGeom prst="bentConnector3">
                <a:avLst>
                  <a:gd name="adj1" fmla="val 49264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6" name="AutoShape 279"/>
              <p:cNvCxnSpPr>
                <a:cxnSpLocks noChangeShapeType="1"/>
                <a:stCxn id="95" idx="0"/>
                <a:endCxn id="99" idx="2"/>
              </p:cNvCxnSpPr>
              <p:nvPr/>
            </p:nvCxnSpPr>
            <p:spPr bwMode="auto">
              <a:xfrm rot="5400000" flipH="1">
                <a:off x="3347" y="2114"/>
                <a:ext cx="182" cy="92"/>
              </a:xfrm>
              <a:prstGeom prst="bentConnector3">
                <a:avLst>
                  <a:gd name="adj1" fmla="val 50000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7" name="AutoShape 280"/>
              <p:cNvCxnSpPr>
                <a:cxnSpLocks noChangeShapeType="1"/>
                <a:stCxn id="95" idx="3"/>
                <a:endCxn id="96" idx="0"/>
              </p:cNvCxnSpPr>
              <p:nvPr/>
            </p:nvCxnSpPr>
            <p:spPr bwMode="auto">
              <a:xfrm>
                <a:off x="3574" y="2342"/>
                <a:ext cx="45" cy="272"/>
              </a:xfrm>
              <a:prstGeom prst="bentConnector2">
                <a:avLst/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08" name="Rectangle 281"/>
              <p:cNvSpPr>
                <a:spLocks noChangeArrowheads="1"/>
              </p:cNvSpPr>
              <p:nvPr/>
            </p:nvSpPr>
            <p:spPr bwMode="auto">
              <a:xfrm>
                <a:off x="3710" y="2341"/>
                <a:ext cx="181" cy="181"/>
              </a:xfrm>
              <a:prstGeom prst="rect">
                <a:avLst/>
              </a:prstGeom>
              <a:solidFill>
                <a:sysClr val="window" lastClr="FFFFFF"/>
              </a:solidFill>
              <a:ln w="9525" cap="rnd" algn="ctr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0" bIns="0" anchor="ctr"/>
              <a:lstStyle>
                <a:lvl1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defTabSz="633413"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defTabSz="633413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defRPr/>
                </a:pPr>
                <a:r>
                  <a:rPr lang="ko-KR" altLang="en-US" sz="700" kern="0" dirty="0">
                    <a:solidFill>
                      <a:srgbClr val="4D4D4D"/>
                    </a:solidFill>
                    <a:latin typeface="맑은 고딕"/>
                    <a:ea typeface="HY헤드라인M" pitchFamily="18" charset="-127"/>
                  </a:rPr>
                  <a:t>수익</a:t>
                </a:r>
              </a:p>
            </p:txBody>
          </p:sp>
          <p:cxnSp>
            <p:nvCxnSpPr>
              <p:cNvPr id="109" name="AutoShape 282"/>
              <p:cNvCxnSpPr>
                <a:cxnSpLocks noChangeShapeType="1"/>
                <a:stCxn id="98" idx="2"/>
                <a:endCxn id="108" idx="2"/>
              </p:cNvCxnSpPr>
              <p:nvPr/>
            </p:nvCxnSpPr>
            <p:spPr bwMode="auto">
              <a:xfrm rot="5400000" flipH="1" flipV="1">
                <a:off x="3302" y="2568"/>
                <a:ext cx="545" cy="453"/>
              </a:xfrm>
              <a:prstGeom prst="bentConnector3">
                <a:avLst>
                  <a:gd name="adj1" fmla="val -13398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0" name="AutoShape 283"/>
              <p:cNvCxnSpPr>
                <a:cxnSpLocks noChangeShapeType="1"/>
                <a:stCxn id="95" idx="3"/>
                <a:endCxn id="108" idx="0"/>
              </p:cNvCxnSpPr>
              <p:nvPr/>
            </p:nvCxnSpPr>
            <p:spPr bwMode="auto">
              <a:xfrm flipV="1">
                <a:off x="3574" y="2341"/>
                <a:ext cx="227" cy="1"/>
              </a:xfrm>
              <a:prstGeom prst="bentConnector4">
                <a:avLst>
                  <a:gd name="adj1" fmla="val 29514"/>
                  <a:gd name="adj2" fmla="val 14500000"/>
                </a:avLst>
              </a:prstGeom>
              <a:noFill/>
              <a:ln w="9525" cap="rnd">
                <a:solidFill>
                  <a:srgbClr val="4D4D4D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6" name="AutoShape 113"/>
            <p:cNvSpPr>
              <a:spLocks noChangeArrowheads="1"/>
            </p:cNvSpPr>
            <p:nvPr/>
          </p:nvSpPr>
          <p:spPr bwMode="auto">
            <a:xfrm>
              <a:off x="6905734" y="1608653"/>
              <a:ext cx="1744666" cy="3694105"/>
            </a:xfrm>
            <a:prstGeom prst="roundRect">
              <a:avLst>
                <a:gd name="adj" fmla="val 8806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ko-KR" altLang="en-US" sz="800" b="1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보고서</a:t>
              </a:r>
              <a:endParaRPr lang="en-US" altLang="ko-KR" sz="800" b="1" kern="0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800" b="1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(</a:t>
              </a:r>
              <a:r>
                <a:rPr lang="en-US" altLang="ko-KR" sz="8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SAP </a:t>
              </a:r>
              <a:r>
                <a:rPr lang="en-US" altLang="ko-KR" sz="800" b="1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BO)</a:t>
              </a:r>
              <a:endParaRPr lang="ko-KR" altLang="en-US" sz="9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/>
                <a:ea typeface="HY견고딕" pitchFamily="18" charset="-127"/>
              </a:endParaRPr>
            </a:p>
          </p:txBody>
        </p:sp>
        <p:sp>
          <p:nvSpPr>
            <p:cNvPr id="17" name="AutoShape 7"/>
            <p:cNvSpPr>
              <a:spLocks noChangeArrowheads="1"/>
            </p:cNvSpPr>
            <p:nvPr/>
          </p:nvSpPr>
          <p:spPr bwMode="auto">
            <a:xfrm>
              <a:off x="789978" y="1414362"/>
              <a:ext cx="1726049" cy="3665433"/>
            </a:xfrm>
            <a:prstGeom prst="roundRect">
              <a:avLst>
                <a:gd name="adj" fmla="val 8806"/>
              </a:avLst>
            </a:prstGeom>
            <a:solidFill>
              <a:srgbClr val="4F81BD">
                <a:lumMod val="40000"/>
                <a:lumOff val="6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en-US" sz="105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/>
                <a:ea typeface="HY견고딕" pitchFamily="18" charset="-127"/>
              </a:endParaRPr>
            </a:p>
          </p:txBody>
        </p:sp>
        <p:sp>
          <p:nvSpPr>
            <p:cNvPr id="18" name="AutoShape 48"/>
            <p:cNvSpPr>
              <a:spLocks noChangeArrowheads="1"/>
            </p:cNvSpPr>
            <p:nvPr/>
          </p:nvSpPr>
          <p:spPr bwMode="auto">
            <a:xfrm>
              <a:off x="929121" y="1590119"/>
              <a:ext cx="1417885" cy="244067"/>
            </a:xfrm>
            <a:prstGeom prst="roundRect">
              <a:avLst>
                <a:gd name="adj" fmla="val 8806"/>
              </a:avLst>
            </a:prstGeom>
            <a:solidFill>
              <a:srgbClr val="3876B4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통합 </a:t>
              </a:r>
              <a:r>
                <a:rPr lang="en-US" altLang="ko-KR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EMR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" name="AutoShape 49"/>
            <p:cNvSpPr>
              <a:spLocks noChangeArrowheads="1"/>
            </p:cNvSpPr>
            <p:nvPr/>
          </p:nvSpPr>
          <p:spPr bwMode="auto">
            <a:xfrm>
              <a:off x="925243" y="1827919"/>
              <a:ext cx="1415576" cy="2282634"/>
            </a:xfrm>
            <a:prstGeom prst="roundRect">
              <a:avLst>
                <a:gd name="adj" fmla="val 5384"/>
              </a:avLst>
            </a:prstGeom>
            <a:solidFill>
              <a:sysClr val="window" lastClr="FFFFFF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3896CA"/>
                    </a:outerShdw>
                  </a:effectLst>
                </a14:hiddenEffects>
              </a:ext>
            </a:extLst>
          </p:spPr>
          <p:txBody>
            <a:bodyPr lIns="0" tIns="33332" rIns="0" bIns="33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800" b="1" kern="0" dirty="0">
                <a:solidFill>
                  <a:srgbClr val="006699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0" name="AutoShape 50"/>
            <p:cNvSpPr>
              <a:spLocks noChangeArrowheads="1"/>
            </p:cNvSpPr>
            <p:nvPr/>
          </p:nvSpPr>
          <p:spPr bwMode="auto">
            <a:xfrm>
              <a:off x="1452182" y="2262302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1" name="AutoShape 57"/>
            <p:cNvSpPr>
              <a:spLocks noChangeArrowheads="1"/>
            </p:cNvSpPr>
            <p:nvPr/>
          </p:nvSpPr>
          <p:spPr bwMode="auto">
            <a:xfrm>
              <a:off x="976474" y="2610417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2" name="Text Box 59"/>
            <p:cNvSpPr txBox="1">
              <a:spLocks noChangeArrowheads="1"/>
            </p:cNvSpPr>
            <p:nvPr/>
          </p:nvSpPr>
          <p:spPr bwMode="auto">
            <a:xfrm>
              <a:off x="1448190" y="2302263"/>
              <a:ext cx="340484" cy="182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의료</a:t>
              </a:r>
              <a:endPara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정보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" name="AutoShape 145"/>
            <p:cNvSpPr>
              <a:spLocks noChangeArrowheads="1"/>
            </p:cNvSpPr>
            <p:nvPr/>
          </p:nvSpPr>
          <p:spPr bwMode="auto">
            <a:xfrm>
              <a:off x="976474" y="1914189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8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4" name="AutoShape 146"/>
            <p:cNvSpPr>
              <a:spLocks noChangeArrowheads="1"/>
            </p:cNvSpPr>
            <p:nvPr/>
          </p:nvSpPr>
          <p:spPr bwMode="auto">
            <a:xfrm>
              <a:off x="976474" y="2262302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5" name="Text Box 147"/>
            <p:cNvSpPr txBox="1">
              <a:spLocks noChangeArrowheads="1"/>
            </p:cNvSpPr>
            <p:nvPr/>
          </p:nvSpPr>
          <p:spPr bwMode="auto">
            <a:xfrm>
              <a:off x="929279" y="2037215"/>
              <a:ext cx="350518" cy="86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원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/>
                  <a:ea typeface="맑은 고딕"/>
                </a:rPr>
                <a:t>무</a:t>
              </a:r>
            </a:p>
          </p:txBody>
        </p:sp>
        <p:sp>
          <p:nvSpPr>
            <p:cNvPr id="26" name="Text Box 148"/>
            <p:cNvSpPr txBox="1">
              <a:spLocks noChangeArrowheads="1"/>
            </p:cNvSpPr>
            <p:nvPr/>
          </p:nvSpPr>
          <p:spPr bwMode="auto">
            <a:xfrm>
              <a:off x="968550" y="2350681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간호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7" name="Text Box 149"/>
            <p:cNvSpPr txBox="1">
              <a:spLocks noChangeArrowheads="1"/>
            </p:cNvSpPr>
            <p:nvPr/>
          </p:nvSpPr>
          <p:spPr bwMode="auto">
            <a:xfrm>
              <a:off x="961451" y="2660443"/>
              <a:ext cx="340484" cy="182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진료</a:t>
              </a:r>
              <a:endParaRPr lang="en-US" altLang="ko-KR" sz="800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지원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8" name="AutoShape 150"/>
            <p:cNvSpPr>
              <a:spLocks noChangeArrowheads="1"/>
            </p:cNvSpPr>
            <p:nvPr/>
          </p:nvSpPr>
          <p:spPr bwMode="auto">
            <a:xfrm>
              <a:off x="1452182" y="1914189"/>
              <a:ext cx="352162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29" name="Text Box 151"/>
            <p:cNvSpPr txBox="1">
              <a:spLocks noChangeArrowheads="1"/>
            </p:cNvSpPr>
            <p:nvPr/>
          </p:nvSpPr>
          <p:spPr bwMode="auto">
            <a:xfrm>
              <a:off x="1444111" y="2002298"/>
              <a:ext cx="340484" cy="114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보험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0" name="AutoShape 152"/>
            <p:cNvSpPr>
              <a:spLocks noChangeArrowheads="1"/>
            </p:cNvSpPr>
            <p:nvPr/>
          </p:nvSpPr>
          <p:spPr bwMode="auto">
            <a:xfrm>
              <a:off x="1943954" y="1914189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31" name="Text Box 153"/>
            <p:cNvSpPr txBox="1">
              <a:spLocks noChangeArrowheads="1"/>
            </p:cNvSpPr>
            <p:nvPr/>
          </p:nvSpPr>
          <p:spPr bwMode="auto">
            <a:xfrm>
              <a:off x="1949988" y="2037215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진료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" name="AutoShape 154"/>
            <p:cNvSpPr>
              <a:spLocks noChangeArrowheads="1"/>
            </p:cNvSpPr>
            <p:nvPr/>
          </p:nvSpPr>
          <p:spPr bwMode="auto">
            <a:xfrm>
              <a:off x="1943954" y="2262302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33" name="Text Box 155"/>
            <p:cNvSpPr txBox="1">
              <a:spLocks noChangeArrowheads="1"/>
            </p:cNvSpPr>
            <p:nvPr/>
          </p:nvSpPr>
          <p:spPr bwMode="auto">
            <a:xfrm>
              <a:off x="1952296" y="2380829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약제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AutoShape 156"/>
            <p:cNvSpPr>
              <a:spLocks noChangeArrowheads="1"/>
            </p:cNvSpPr>
            <p:nvPr/>
          </p:nvSpPr>
          <p:spPr bwMode="auto">
            <a:xfrm>
              <a:off x="1943954" y="2610417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35" name="Text Box 157"/>
            <p:cNvSpPr txBox="1">
              <a:spLocks noChangeArrowheads="1"/>
            </p:cNvSpPr>
            <p:nvPr/>
          </p:nvSpPr>
          <p:spPr bwMode="auto">
            <a:xfrm>
              <a:off x="1990139" y="2718599"/>
              <a:ext cx="275191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LIS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" name="AutoShape 158"/>
            <p:cNvSpPr>
              <a:spLocks noChangeArrowheads="1"/>
            </p:cNvSpPr>
            <p:nvPr/>
          </p:nvSpPr>
          <p:spPr bwMode="auto">
            <a:xfrm>
              <a:off x="1452182" y="2610417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37" name="Text Box 159"/>
            <p:cNvSpPr txBox="1">
              <a:spLocks noChangeArrowheads="1"/>
            </p:cNvSpPr>
            <p:nvPr/>
          </p:nvSpPr>
          <p:spPr bwMode="auto">
            <a:xfrm>
              <a:off x="1436638" y="2700758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검진</a:t>
              </a:r>
              <a:endParaRPr lang="ko-KR" altLang="en-US" sz="8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8" name="AutoShape 5"/>
            <p:cNvSpPr>
              <a:spLocks noChangeArrowheads="1"/>
            </p:cNvSpPr>
            <p:nvPr/>
          </p:nvSpPr>
          <p:spPr bwMode="auto">
            <a:xfrm>
              <a:off x="2605818" y="2593787"/>
              <a:ext cx="528062" cy="759549"/>
            </a:xfrm>
            <a:prstGeom prst="roundRect">
              <a:avLst>
                <a:gd name="adj" fmla="val 3083"/>
              </a:avLst>
            </a:prstGeom>
            <a:solidFill>
              <a:srgbClr val="1F497D">
                <a:lumMod val="20000"/>
                <a:lumOff val="8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9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CDC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9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(OGG)</a:t>
              </a:r>
            </a:p>
          </p:txBody>
        </p:sp>
        <p:sp>
          <p:nvSpPr>
            <p:cNvPr id="39" name="Rectangle 12"/>
            <p:cNvSpPr>
              <a:spLocks noChangeArrowheads="1"/>
            </p:cNvSpPr>
            <p:nvPr/>
          </p:nvSpPr>
          <p:spPr bwMode="auto">
            <a:xfrm>
              <a:off x="2602785" y="2873488"/>
              <a:ext cx="562114" cy="408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42332" rIns="84664" bIns="42332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- </a:t>
              </a:r>
              <a:r>
                <a:rPr lang="ko-KR" altLang="en-US" sz="700" smtClean="0">
                  <a:solidFill>
                    <a:prstClr val="black"/>
                  </a:solidFill>
                  <a:latin typeface="맑은 고딕"/>
                  <a:ea typeface="맑은 고딕"/>
                </a:rPr>
                <a:t>실시간 </a:t>
              </a:r>
              <a:r>
                <a:rPr lang="en-US" altLang="ko-KR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/>
              </a:r>
              <a:br>
                <a:rPr lang="en-US" altLang="ko-KR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</a:br>
              <a:r>
                <a:rPr lang="en-US" altLang="ko-KR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7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변경적재</a:t>
              </a:r>
              <a:endParaRPr lang="en-US" altLang="ko-KR" sz="70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99120" y="3305717"/>
              <a:ext cx="770978" cy="371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1000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- </a:t>
              </a:r>
              <a:r>
                <a:rPr lang="ko-KR" altLang="en-US" sz="1000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초기자료</a:t>
              </a:r>
              <a:endParaRPr lang="en-US" altLang="ko-KR" sz="1000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1000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 kern="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 변경자료</a:t>
              </a:r>
              <a:endParaRPr lang="ko-KR" altLang="en-US" sz="1000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Line 243"/>
            <p:cNvSpPr>
              <a:spLocks noChangeShapeType="1"/>
            </p:cNvSpPr>
            <p:nvPr/>
          </p:nvSpPr>
          <p:spPr bwMode="auto">
            <a:xfrm flipV="1">
              <a:off x="3970965" y="3427898"/>
              <a:ext cx="381290" cy="9201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2700" dir="16200000" algn="ctr" rotWithShape="0">
                      <a:srgbClr val="2A91BA"/>
                    </a:outerShdw>
                  </a:effectLst>
                </a14:hiddenEffects>
              </a:ext>
            </a:extLst>
          </p:spPr>
          <p:txBody>
            <a:bodyPr wrap="square" lIns="92061" tIns="46031" rIns="92061" bIns="46031">
              <a:spAutoFit/>
            </a:bodyPr>
            <a:lstStyle/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endParaRPr lang="ko-KR" altLang="en-US" dirty="0">
                <a:solidFill>
                  <a:prstClr val="black"/>
                </a:solidFill>
                <a:latin typeface="맑은 고딕"/>
                <a:ea typeface="굴림" pitchFamily="50" charset="-127"/>
              </a:endParaRPr>
            </a:p>
          </p:txBody>
        </p:sp>
        <p:sp>
          <p:nvSpPr>
            <p:cNvPr id="42" name="AutoShape 5"/>
            <p:cNvSpPr>
              <a:spLocks noChangeArrowheads="1"/>
            </p:cNvSpPr>
            <p:nvPr/>
          </p:nvSpPr>
          <p:spPr bwMode="auto">
            <a:xfrm>
              <a:off x="3984748" y="3017158"/>
              <a:ext cx="350189" cy="304146"/>
            </a:xfrm>
            <a:prstGeom prst="roundRect">
              <a:avLst>
                <a:gd name="adj" fmla="val 3083"/>
              </a:avLst>
            </a:prstGeom>
            <a:solidFill>
              <a:srgbClr val="1F497D">
                <a:lumMod val="20000"/>
                <a:lumOff val="8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900" b="1" kern="0" dirty="0" smtClean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/>
                  <a:ea typeface="HY견고딕" pitchFamily="18" charset="-127"/>
                </a:rPr>
                <a:t>ETL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500" b="1" kern="0" dirty="0" smtClean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/>
                  <a:ea typeface="HY견고딕" pitchFamily="18" charset="-127"/>
                </a:rPr>
                <a:t>(SAP DS</a:t>
              </a:r>
              <a:r>
                <a:rPr lang="en-US" altLang="ko-KR" sz="400" b="1" kern="0" dirty="0" smtClean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/>
                  <a:ea typeface="HY견고딕" pitchFamily="18" charset="-127"/>
                </a:rPr>
                <a:t>)</a:t>
              </a:r>
              <a:endParaRPr lang="en-US" altLang="ko-KR" sz="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/>
                <a:ea typeface="HY견고딕" pitchFamily="18" charset="-127"/>
              </a:endParaRPr>
            </a:p>
          </p:txBody>
        </p:sp>
        <p:sp>
          <p:nvSpPr>
            <p:cNvPr id="43" name="Line 243"/>
            <p:cNvSpPr>
              <a:spLocks noChangeShapeType="1"/>
            </p:cNvSpPr>
            <p:nvPr/>
          </p:nvSpPr>
          <p:spPr bwMode="auto">
            <a:xfrm flipV="1">
              <a:off x="5521621" y="3456199"/>
              <a:ext cx="381290" cy="9201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2700" dir="16200000" algn="ctr" rotWithShape="0">
                      <a:srgbClr val="2A91BA"/>
                    </a:outerShdw>
                  </a:effectLst>
                </a14:hiddenEffects>
              </a:ext>
            </a:extLst>
          </p:spPr>
          <p:txBody>
            <a:bodyPr wrap="square" lIns="92061" tIns="46031" rIns="92061" bIns="46031">
              <a:spAutoFit/>
            </a:bodyPr>
            <a:lstStyle/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endParaRPr lang="ko-KR" altLang="en-US" dirty="0">
                <a:solidFill>
                  <a:prstClr val="black"/>
                </a:solidFill>
                <a:latin typeface="맑은 고딕"/>
                <a:ea typeface="굴림" pitchFamily="50" charset="-127"/>
              </a:endParaRPr>
            </a:p>
          </p:txBody>
        </p:sp>
        <p:sp>
          <p:nvSpPr>
            <p:cNvPr id="44" name="AutoShape 5"/>
            <p:cNvSpPr>
              <a:spLocks noChangeArrowheads="1"/>
            </p:cNvSpPr>
            <p:nvPr/>
          </p:nvSpPr>
          <p:spPr bwMode="auto">
            <a:xfrm>
              <a:off x="5541429" y="3048837"/>
              <a:ext cx="351234" cy="300767"/>
            </a:xfrm>
            <a:prstGeom prst="roundRect">
              <a:avLst>
                <a:gd name="adj" fmla="val 3083"/>
              </a:avLst>
            </a:prstGeom>
            <a:solidFill>
              <a:srgbClr val="1F497D">
                <a:lumMod val="20000"/>
                <a:lumOff val="8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900" b="1" kern="0" dirty="0" smtClean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/>
                  <a:ea typeface="HY견고딕" pitchFamily="18" charset="-127"/>
                </a:rPr>
                <a:t>ETL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500" b="1" kern="0" dirty="0" smtClean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/>
                  <a:ea typeface="HY견고딕" pitchFamily="18" charset="-127"/>
                </a:rPr>
                <a:t>(SAP DS)</a:t>
              </a:r>
              <a:endParaRPr lang="en-US" altLang="ko-KR" sz="5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/>
                <a:ea typeface="HY견고딕" pitchFamily="18" charset="-127"/>
              </a:endParaRPr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7012117" y="2224253"/>
              <a:ext cx="1530579" cy="951089"/>
            </a:xfrm>
            <a:prstGeom prst="roundRect">
              <a:avLst/>
            </a:prstGeom>
            <a:gradFill>
              <a:gsLst>
                <a:gs pos="0">
                  <a:srgbClr val="4F81BD">
                    <a:lumMod val="45000"/>
                    <a:lumOff val="55000"/>
                  </a:srgbClr>
                </a:gs>
                <a:gs pos="0">
                  <a:srgbClr val="4F81BD">
                    <a:lumMod val="60000"/>
                    <a:lumOff val="40000"/>
                  </a:srgbClr>
                </a:gs>
                <a:gs pos="0">
                  <a:srgbClr val="B7C9EA"/>
                </a:gs>
                <a:gs pos="0">
                  <a:scrgbClr r="0" g="0" b="0">
                    <a:lumMod val="0"/>
                  </a:scrgbClr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rgbClr val="4F81BD">
                    <a:lumMod val="20000"/>
                    <a:lumOff val="80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kumimoji="0" lang="ko-KR" altLang="en-US" kern="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7012117" y="3385754"/>
              <a:ext cx="1530579" cy="814239"/>
            </a:xfrm>
            <a:prstGeom prst="roundRect">
              <a:avLst/>
            </a:prstGeom>
            <a:gradFill>
              <a:gsLst>
                <a:gs pos="0">
                  <a:srgbClr val="4F81BD">
                    <a:lumMod val="45000"/>
                    <a:lumOff val="55000"/>
                  </a:srgbClr>
                </a:gs>
                <a:gs pos="0">
                  <a:srgbClr val="4F81BD">
                    <a:lumMod val="60000"/>
                    <a:lumOff val="40000"/>
                  </a:srgbClr>
                </a:gs>
                <a:gs pos="0">
                  <a:srgbClr val="B7C9EA"/>
                </a:gs>
                <a:gs pos="0">
                  <a:scrgbClr r="0" g="0" b="0">
                    <a:lumMod val="0"/>
                  </a:scrgbClr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rgbClr val="4F81BD">
                    <a:lumMod val="20000"/>
                    <a:lumOff val="80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kumimoji="0" lang="ko-KR" altLang="en-US" kern="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순서도: 처리 46"/>
            <p:cNvSpPr/>
            <p:nvPr/>
          </p:nvSpPr>
          <p:spPr>
            <a:xfrm>
              <a:off x="7462308" y="3237890"/>
              <a:ext cx="643755" cy="324692"/>
            </a:xfrm>
            <a:prstGeom prst="flowChartProcess">
              <a:avLst/>
            </a:prstGeom>
            <a:solidFill>
              <a:srgbClr val="F79646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kumimoji="0" lang="en-US" altLang="ko-KR" sz="7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EIS</a:t>
              </a:r>
              <a:endParaRPr kumimoji="0" lang="ko-KR" altLang="en-US" sz="700" b="1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모서리가 둥근 직사각형 47"/>
            <p:cNvSpPr/>
            <p:nvPr/>
          </p:nvSpPr>
          <p:spPr>
            <a:xfrm>
              <a:off x="7012117" y="4412549"/>
              <a:ext cx="1530579" cy="793612"/>
            </a:xfrm>
            <a:prstGeom prst="roundRect">
              <a:avLst/>
            </a:prstGeom>
            <a:gradFill>
              <a:gsLst>
                <a:gs pos="0">
                  <a:srgbClr val="4F81BD">
                    <a:lumMod val="45000"/>
                    <a:lumOff val="55000"/>
                  </a:srgbClr>
                </a:gs>
                <a:gs pos="0">
                  <a:srgbClr val="4F81BD">
                    <a:lumMod val="60000"/>
                    <a:lumOff val="40000"/>
                  </a:srgbClr>
                </a:gs>
                <a:gs pos="0">
                  <a:srgbClr val="B7C9EA"/>
                </a:gs>
                <a:gs pos="0">
                  <a:scrgbClr r="0" g="0" b="0">
                    <a:lumMod val="0"/>
                  </a:scrgbClr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crgbClr r="0" g="0" b="0"/>
                </a:gs>
                <a:gs pos="0">
                  <a:srgbClr val="4F81BD">
                    <a:lumMod val="20000"/>
                    <a:lumOff val="80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kumimoji="0" lang="ko-KR" altLang="en-US" kern="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순서도: 처리 48"/>
            <p:cNvSpPr/>
            <p:nvPr/>
          </p:nvSpPr>
          <p:spPr>
            <a:xfrm>
              <a:off x="7462308" y="4272608"/>
              <a:ext cx="643755" cy="324692"/>
            </a:xfrm>
            <a:prstGeom prst="flowChartProcess">
              <a:avLst/>
            </a:prstGeom>
            <a:solidFill>
              <a:srgbClr val="F79646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kumimoji="0" lang="en-US" altLang="ko-KR" sz="7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CDW</a:t>
              </a:r>
              <a:endParaRPr kumimoji="0" lang="ko-KR" altLang="en-US" sz="700" b="1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AutoShape 48"/>
            <p:cNvSpPr>
              <a:spLocks noChangeArrowheads="1"/>
            </p:cNvSpPr>
            <p:nvPr/>
          </p:nvSpPr>
          <p:spPr bwMode="auto">
            <a:xfrm>
              <a:off x="3294093" y="1938194"/>
              <a:ext cx="681453" cy="244067"/>
            </a:xfrm>
            <a:prstGeom prst="roundRect">
              <a:avLst>
                <a:gd name="adj" fmla="val 8806"/>
              </a:avLst>
            </a:prstGeom>
            <a:solidFill>
              <a:srgbClr val="3876B4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ODS </a:t>
              </a:r>
              <a:r>
                <a:rPr lang="ko-KR" altLang="en-US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영역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1" name="AutoShape 48"/>
            <p:cNvSpPr>
              <a:spLocks noChangeArrowheads="1"/>
            </p:cNvSpPr>
            <p:nvPr/>
          </p:nvSpPr>
          <p:spPr bwMode="auto">
            <a:xfrm>
              <a:off x="4352021" y="1940120"/>
              <a:ext cx="1167544" cy="244067"/>
            </a:xfrm>
            <a:prstGeom prst="roundRect">
              <a:avLst>
                <a:gd name="adj" fmla="val 8806"/>
              </a:avLst>
            </a:prstGeom>
            <a:solidFill>
              <a:srgbClr val="3876B4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DW </a:t>
              </a:r>
              <a:r>
                <a:rPr lang="ko-KR" altLang="en-US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영역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2" name="AutoShape 48"/>
            <p:cNvSpPr>
              <a:spLocks noChangeArrowheads="1"/>
            </p:cNvSpPr>
            <p:nvPr/>
          </p:nvSpPr>
          <p:spPr bwMode="auto">
            <a:xfrm>
              <a:off x="5912741" y="1933075"/>
              <a:ext cx="576160" cy="244067"/>
            </a:xfrm>
            <a:prstGeom prst="roundRect">
              <a:avLst>
                <a:gd name="adj" fmla="val 8806"/>
              </a:avLst>
            </a:prstGeom>
            <a:solidFill>
              <a:srgbClr val="3876B4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DM </a:t>
              </a:r>
              <a:r>
                <a:rPr lang="ko-KR" altLang="en-US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영역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53" name="순서도: 처리 52"/>
            <p:cNvSpPr/>
            <p:nvPr/>
          </p:nvSpPr>
          <p:spPr>
            <a:xfrm>
              <a:off x="805384" y="4905122"/>
              <a:ext cx="1710642" cy="329164"/>
            </a:xfrm>
            <a:prstGeom prst="flowChartProcess">
              <a:avLst/>
            </a:prstGeom>
            <a:solidFill>
              <a:srgbClr val="4F81BD">
                <a:lumMod val="75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kumimoji="0" lang="en-US" altLang="ko-KR" sz="1050" kern="0" dirty="0">
                  <a:solidFill>
                    <a:prstClr val="white"/>
                  </a:solidFill>
                  <a:latin typeface="맑은 고딕"/>
                  <a:ea typeface="맑은 고딕"/>
                </a:rPr>
                <a:t>ORACLE</a:t>
              </a:r>
              <a:endParaRPr kumimoji="0" lang="ko-KR" altLang="en-US" sz="1050" kern="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4" name="순서도: 처리 53"/>
            <p:cNvSpPr/>
            <p:nvPr/>
          </p:nvSpPr>
          <p:spPr>
            <a:xfrm>
              <a:off x="3233802" y="4893990"/>
              <a:ext cx="3299074" cy="333907"/>
            </a:xfrm>
            <a:prstGeom prst="flowChartProcess">
              <a:avLst/>
            </a:prstGeom>
            <a:solidFill>
              <a:srgbClr val="4F81BD">
                <a:lumMod val="75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kumimoji="0" lang="en-US" altLang="ko-KR" sz="1050" kern="0" dirty="0">
                  <a:solidFill>
                    <a:prstClr val="white"/>
                  </a:solidFill>
                  <a:latin typeface="맑은 고딕"/>
                  <a:ea typeface="맑은 고딕"/>
                </a:rPr>
                <a:t>TERADATA</a:t>
              </a:r>
              <a:endParaRPr kumimoji="0" lang="ko-KR" altLang="en-US" sz="1050" kern="0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7091993" y="1213608"/>
              <a:ext cx="1457732" cy="37920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105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데이터 활용</a:t>
              </a:r>
            </a:p>
          </p:txBody>
        </p:sp>
        <p:sp>
          <p:nvSpPr>
            <p:cNvPr id="57" name="Text Box 58"/>
            <p:cNvSpPr txBox="1">
              <a:spLocks noChangeArrowheads="1"/>
            </p:cNvSpPr>
            <p:nvPr/>
          </p:nvSpPr>
          <p:spPr bwMode="auto">
            <a:xfrm>
              <a:off x="8120476" y="2883288"/>
              <a:ext cx="3590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진료간호</a:t>
              </a:r>
              <a:endParaRPr lang="en-US" altLang="ko-KR" sz="700" b="1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분석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Text Box 58"/>
            <p:cNvSpPr txBox="1">
              <a:spLocks noChangeArrowheads="1"/>
            </p:cNvSpPr>
            <p:nvPr/>
          </p:nvSpPr>
          <p:spPr bwMode="auto">
            <a:xfrm>
              <a:off x="7172154" y="3996924"/>
              <a:ext cx="391133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환자 동향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Text Box 58"/>
            <p:cNvSpPr txBox="1">
              <a:spLocks noChangeArrowheads="1"/>
            </p:cNvSpPr>
            <p:nvPr/>
          </p:nvSpPr>
          <p:spPr bwMode="auto">
            <a:xfrm>
              <a:off x="7339669" y="5015793"/>
              <a:ext cx="872034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>
                  <a:solidFill>
                    <a:prstClr val="black"/>
                  </a:solidFill>
                  <a:latin typeface="맑은 고딕"/>
                  <a:ea typeface="맑은 고딕"/>
                </a:rPr>
                <a:t>진료검색 및 </a:t>
              </a: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연구검색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0" name="Text Box 58"/>
            <p:cNvSpPr txBox="1">
              <a:spLocks noChangeArrowheads="1"/>
            </p:cNvSpPr>
            <p:nvPr/>
          </p:nvSpPr>
          <p:spPr bwMode="auto">
            <a:xfrm>
              <a:off x="7972894" y="4019649"/>
              <a:ext cx="391133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수입 동향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1" name="Text Box 58"/>
            <p:cNvSpPr txBox="1">
              <a:spLocks noChangeArrowheads="1"/>
            </p:cNvSpPr>
            <p:nvPr/>
          </p:nvSpPr>
          <p:spPr bwMode="auto">
            <a:xfrm>
              <a:off x="7213627" y="2883288"/>
              <a:ext cx="17953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원무</a:t>
              </a:r>
              <a:endParaRPr lang="en-US" altLang="ko-KR" sz="700" b="1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>
                  <a:solidFill>
                    <a:prstClr val="black"/>
                  </a:solidFill>
                  <a:latin typeface="맑은 고딕"/>
                  <a:ea typeface="맑은 고딕"/>
                </a:rPr>
                <a:t>분</a:t>
              </a: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석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62" name="Picture 83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rgbClr val="F79646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617921" y="3010605"/>
              <a:ext cx="4075216" cy="509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순서도: 처리 62"/>
            <p:cNvSpPr/>
            <p:nvPr/>
          </p:nvSpPr>
          <p:spPr>
            <a:xfrm>
              <a:off x="7474148" y="2061906"/>
              <a:ext cx="643755" cy="324692"/>
            </a:xfrm>
            <a:prstGeom prst="flowChartProcess">
              <a:avLst/>
            </a:prstGeom>
            <a:solidFill>
              <a:srgbClr val="F79646">
                <a:lumMod val="60000"/>
                <a:lumOff val="40000"/>
              </a:srgb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kumimoji="0" lang="en-US" altLang="ko-KR" sz="700" b="1" kern="0" dirty="0">
                  <a:solidFill>
                    <a:prstClr val="black"/>
                  </a:solidFill>
                  <a:latin typeface="맑은 고딕"/>
                  <a:ea typeface="맑은 고딕"/>
                </a:rPr>
                <a:t>OLAP</a:t>
              </a:r>
              <a:endParaRPr kumimoji="0" lang="ko-KR" altLang="en-US" sz="700" b="1" kern="0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4" name="Line 286"/>
            <p:cNvSpPr>
              <a:spLocks noChangeShapeType="1"/>
            </p:cNvSpPr>
            <p:nvPr/>
          </p:nvSpPr>
          <p:spPr bwMode="auto">
            <a:xfrm>
              <a:off x="7742710" y="5528406"/>
              <a:ext cx="27761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2700" dir="16200000" algn="ctr" rotWithShape="0">
                      <a:srgbClr val="2A91BA"/>
                    </a:outerShdw>
                  </a:effectLst>
                </a14:hiddenEffects>
              </a:ext>
            </a:extLst>
          </p:spPr>
          <p:txBody>
            <a:bodyPr lIns="92061" tIns="46031" rIns="92061" bIns="46031">
              <a:spAutoFit/>
            </a:bodyPr>
            <a:lstStyle/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endParaRPr lang="ko-KR" altLang="en-US" sz="500" dirty="0">
                <a:solidFill>
                  <a:prstClr val="black"/>
                </a:solidFill>
                <a:latin typeface="맑은 고딕"/>
                <a:ea typeface="굴림" pitchFamily="50" charset="-127"/>
              </a:endParaRPr>
            </a:p>
          </p:txBody>
        </p:sp>
        <p:sp>
          <p:nvSpPr>
            <p:cNvPr id="65" name="Text Box 287"/>
            <p:cNvSpPr txBox="1">
              <a:spLocks noChangeArrowheads="1"/>
            </p:cNvSpPr>
            <p:nvPr/>
          </p:nvSpPr>
          <p:spPr bwMode="auto">
            <a:xfrm>
              <a:off x="7944014" y="5452486"/>
              <a:ext cx="732442" cy="156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rnd" algn="ctr">
                  <a:solidFill>
                    <a:srgbClr val="4D4D4D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0" bIns="0">
              <a:spAutoFit/>
            </a:bodyPr>
            <a:lstStyle>
              <a:lvl1pPr defTabSz="633413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defTabSz="633413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defTabSz="633413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defTabSz="633413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defTabSz="633413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defTabSz="6334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defTabSz="6334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defTabSz="6334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defTabSz="633413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en-US" altLang="ko-KR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ETL </a:t>
              </a:r>
              <a:r>
                <a:rPr lang="ko-KR" altLang="en-US" sz="700" b="1" dirty="0">
                  <a:solidFill>
                    <a:prstClr val="black"/>
                  </a:solidFill>
                  <a:latin typeface="맑은 고딕"/>
                  <a:ea typeface="맑은 고딕"/>
                </a:rPr>
                <a:t>흐름</a:t>
              </a:r>
            </a:p>
          </p:txBody>
        </p:sp>
        <p:sp>
          <p:nvSpPr>
            <p:cNvPr id="66" name="Text Box 58"/>
            <p:cNvSpPr txBox="1">
              <a:spLocks noChangeArrowheads="1"/>
            </p:cNvSpPr>
            <p:nvPr/>
          </p:nvSpPr>
          <p:spPr bwMode="auto">
            <a:xfrm>
              <a:off x="7611232" y="2887158"/>
              <a:ext cx="35907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의료정보</a:t>
              </a:r>
              <a:endParaRPr lang="en-US" altLang="ko-KR" sz="700" b="1" dirty="0" smtClean="0">
                <a:solidFill>
                  <a:prstClr val="black"/>
                </a:solidFill>
                <a:latin typeface="맑은 고딕"/>
                <a:ea typeface="맑은 고딕"/>
              </a:endParaRPr>
            </a:p>
            <a:p>
              <a:pPr algn="ctr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700" b="1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분석</a:t>
              </a:r>
              <a:endParaRPr lang="ko-KR" altLang="en-US" sz="700" b="1" dirty="0">
                <a:solidFill>
                  <a:prstClr val="black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7" name="AutoShape 81"/>
            <p:cNvSpPr>
              <a:spLocks noChangeArrowheads="1"/>
            </p:cNvSpPr>
            <p:nvPr/>
          </p:nvSpPr>
          <p:spPr bwMode="auto">
            <a:xfrm>
              <a:off x="1459110" y="3369756"/>
              <a:ext cx="352162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68" name="AutoShape 82"/>
            <p:cNvSpPr>
              <a:spLocks noChangeArrowheads="1"/>
            </p:cNvSpPr>
            <p:nvPr/>
          </p:nvSpPr>
          <p:spPr bwMode="auto">
            <a:xfrm>
              <a:off x="983402" y="3345381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69" name="Text Box 83"/>
            <p:cNvSpPr txBox="1">
              <a:spLocks noChangeArrowheads="1"/>
            </p:cNvSpPr>
            <p:nvPr/>
          </p:nvSpPr>
          <p:spPr bwMode="auto">
            <a:xfrm>
              <a:off x="972653" y="3436891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회계</a:t>
              </a:r>
            </a:p>
          </p:txBody>
        </p:sp>
        <p:sp>
          <p:nvSpPr>
            <p:cNvPr id="70" name="Text Box 84"/>
            <p:cNvSpPr txBox="1">
              <a:spLocks noChangeArrowheads="1"/>
            </p:cNvSpPr>
            <p:nvPr/>
          </p:nvSpPr>
          <p:spPr bwMode="auto">
            <a:xfrm>
              <a:off x="1446825" y="3440036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예산</a:t>
              </a:r>
            </a:p>
          </p:txBody>
        </p:sp>
        <p:sp>
          <p:nvSpPr>
            <p:cNvPr id="71" name="AutoShape 85"/>
            <p:cNvSpPr>
              <a:spLocks noChangeArrowheads="1"/>
            </p:cNvSpPr>
            <p:nvPr/>
          </p:nvSpPr>
          <p:spPr bwMode="auto">
            <a:xfrm>
              <a:off x="1459110" y="3710747"/>
              <a:ext cx="352162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72" name="AutoShape 86"/>
            <p:cNvSpPr>
              <a:spLocks noChangeArrowheads="1"/>
            </p:cNvSpPr>
            <p:nvPr/>
          </p:nvSpPr>
          <p:spPr bwMode="auto">
            <a:xfrm>
              <a:off x="983402" y="3719085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73" name="Text Box 87"/>
            <p:cNvSpPr txBox="1">
              <a:spLocks noChangeArrowheads="1"/>
            </p:cNvSpPr>
            <p:nvPr/>
          </p:nvSpPr>
          <p:spPr bwMode="auto">
            <a:xfrm>
              <a:off x="986509" y="3792273"/>
              <a:ext cx="340484" cy="114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물류</a:t>
              </a:r>
            </a:p>
          </p:txBody>
        </p:sp>
        <p:sp>
          <p:nvSpPr>
            <p:cNvPr id="74" name="Text Box 88"/>
            <p:cNvSpPr txBox="1">
              <a:spLocks noChangeArrowheads="1"/>
            </p:cNvSpPr>
            <p:nvPr/>
          </p:nvSpPr>
          <p:spPr bwMode="auto">
            <a:xfrm>
              <a:off x="1467198" y="3792273"/>
              <a:ext cx="340484" cy="114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인사</a:t>
              </a:r>
            </a:p>
          </p:txBody>
        </p:sp>
        <p:sp>
          <p:nvSpPr>
            <p:cNvPr id="75" name="AutoShape 89"/>
            <p:cNvSpPr>
              <a:spLocks noChangeArrowheads="1"/>
            </p:cNvSpPr>
            <p:nvPr/>
          </p:nvSpPr>
          <p:spPr bwMode="auto">
            <a:xfrm>
              <a:off x="1950881" y="3381669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76" name="Text Box 90"/>
            <p:cNvSpPr txBox="1">
              <a:spLocks noChangeArrowheads="1"/>
            </p:cNvSpPr>
            <p:nvPr/>
          </p:nvSpPr>
          <p:spPr bwMode="auto">
            <a:xfrm>
              <a:off x="1949918" y="3474134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자산</a:t>
              </a:r>
            </a:p>
          </p:txBody>
        </p:sp>
        <p:sp>
          <p:nvSpPr>
            <p:cNvPr id="77" name="AutoShape 91"/>
            <p:cNvSpPr>
              <a:spLocks noChangeArrowheads="1"/>
            </p:cNvSpPr>
            <p:nvPr/>
          </p:nvSpPr>
          <p:spPr bwMode="auto">
            <a:xfrm>
              <a:off x="1950881" y="3721901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78" name="Text Box 92"/>
            <p:cNvSpPr txBox="1">
              <a:spLocks noChangeArrowheads="1"/>
            </p:cNvSpPr>
            <p:nvPr/>
          </p:nvSpPr>
          <p:spPr bwMode="auto">
            <a:xfrm>
              <a:off x="1949485" y="3808776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급여</a:t>
              </a:r>
            </a:p>
          </p:txBody>
        </p:sp>
        <p:sp>
          <p:nvSpPr>
            <p:cNvPr id="79" name="AutoShape 48"/>
            <p:cNvSpPr>
              <a:spLocks noChangeArrowheads="1"/>
            </p:cNvSpPr>
            <p:nvPr/>
          </p:nvSpPr>
          <p:spPr bwMode="auto">
            <a:xfrm>
              <a:off x="916800" y="4180385"/>
              <a:ext cx="1417885" cy="244067"/>
            </a:xfrm>
            <a:prstGeom prst="roundRect">
              <a:avLst>
                <a:gd name="adj" fmla="val 8806"/>
              </a:avLst>
            </a:prstGeom>
            <a:solidFill>
              <a:srgbClr val="3876B4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원가 시스템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80" name="AutoShape 49"/>
            <p:cNvSpPr>
              <a:spLocks noChangeArrowheads="1"/>
            </p:cNvSpPr>
            <p:nvPr/>
          </p:nvSpPr>
          <p:spPr bwMode="auto">
            <a:xfrm>
              <a:off x="912920" y="4418186"/>
              <a:ext cx="1415576" cy="354948"/>
            </a:xfrm>
            <a:prstGeom prst="roundRect">
              <a:avLst>
                <a:gd name="adj" fmla="val 5384"/>
              </a:avLst>
            </a:prstGeom>
            <a:solidFill>
              <a:sysClr val="window" lastClr="FFFFFF"/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3896CA"/>
                    </a:outerShdw>
                  </a:effectLst>
                </a14:hiddenEffects>
              </a:ext>
            </a:extLst>
          </p:spPr>
          <p:txBody>
            <a:bodyPr lIns="0" tIns="33332" rIns="0" bIns="33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b="1" kern="0" dirty="0">
                <a:solidFill>
                  <a:srgbClr val="006699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81" name="AutoShape 82"/>
            <p:cNvSpPr>
              <a:spLocks noChangeArrowheads="1"/>
            </p:cNvSpPr>
            <p:nvPr/>
          </p:nvSpPr>
          <p:spPr bwMode="auto">
            <a:xfrm>
              <a:off x="1191073" y="4460879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82" name="Text Box 83"/>
            <p:cNvSpPr txBox="1">
              <a:spLocks noChangeArrowheads="1"/>
            </p:cNvSpPr>
            <p:nvPr/>
          </p:nvSpPr>
          <p:spPr bwMode="auto">
            <a:xfrm>
              <a:off x="1180326" y="4552392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원</a:t>
              </a: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가</a:t>
              </a:r>
            </a:p>
          </p:txBody>
        </p:sp>
        <p:sp>
          <p:nvSpPr>
            <p:cNvPr id="83" name="AutoShape 89"/>
            <p:cNvSpPr>
              <a:spLocks noChangeArrowheads="1"/>
            </p:cNvSpPr>
            <p:nvPr/>
          </p:nvSpPr>
          <p:spPr bwMode="auto">
            <a:xfrm>
              <a:off x="1759680" y="4465038"/>
              <a:ext cx="352161" cy="25363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C0C0C0">
                    <a:gamma/>
                    <a:tint val="30196"/>
                    <a:invGamma/>
                  </a:srgbClr>
                </a:gs>
              </a:gsLst>
              <a:lin ang="0" scaled="1"/>
            </a:gradFill>
            <a:ln w="9525">
              <a:solidFill>
                <a:srgbClr val="EEECE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42332" anchor="ctr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endParaRPr lang="ko-KR" altLang="ko-KR" sz="700" kern="0" dirty="0">
                <a:solidFill>
                  <a:prstClr val="black"/>
                </a:solidFill>
                <a:latin typeface="맑은 고딕"/>
                <a:ea typeface="굴림체" pitchFamily="49" charset="-127"/>
              </a:endParaRPr>
            </a:p>
          </p:txBody>
        </p:sp>
        <p:sp>
          <p:nvSpPr>
            <p:cNvPr id="84" name="Text Box 83"/>
            <p:cNvSpPr txBox="1">
              <a:spLocks noChangeArrowheads="1"/>
            </p:cNvSpPr>
            <p:nvPr/>
          </p:nvSpPr>
          <p:spPr bwMode="auto">
            <a:xfrm>
              <a:off x="1736900" y="4568947"/>
              <a:ext cx="340484" cy="91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9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4664" tIns="0" rIns="84664" bIns="0">
              <a:spAutoFit/>
            </a:bodyPr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fontAlgn="base" latinLnBrk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SzTx/>
              </a:pPr>
              <a:r>
                <a:rPr lang="ko-KR" altLang="en-US" sz="800" dirty="0" smtClean="0">
                  <a:solidFill>
                    <a:prstClr val="black"/>
                  </a:solidFill>
                  <a:latin typeface="맑은 고딕"/>
                  <a:ea typeface="맑은 고딕"/>
                </a:rPr>
                <a:t>기</a:t>
              </a: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/>
                </a:rPr>
                <a:t>타</a:t>
              </a:r>
            </a:p>
          </p:txBody>
        </p:sp>
        <p:cxnSp>
          <p:nvCxnSpPr>
            <p:cNvPr id="85" name="직선 연결선 84"/>
            <p:cNvCxnSpPr/>
            <p:nvPr/>
          </p:nvCxnSpPr>
          <p:spPr>
            <a:xfrm>
              <a:off x="925243" y="3166488"/>
              <a:ext cx="1421763" cy="0"/>
            </a:xfrm>
            <a:prstGeom prst="line">
              <a:avLst/>
            </a:prstGeom>
            <a:noFill/>
            <a:ln w="12700" cap="flat" cmpd="sng" algn="ctr">
              <a:solidFill>
                <a:srgbClr val="4F81BD"/>
              </a:solidFill>
              <a:prstDash val="sysDot"/>
              <a:tailEnd type="none"/>
            </a:ln>
            <a:effectLst/>
          </p:spPr>
        </p:cxnSp>
        <p:sp>
          <p:nvSpPr>
            <p:cNvPr id="86" name="AutoShape 48"/>
            <p:cNvSpPr>
              <a:spLocks noChangeArrowheads="1"/>
            </p:cNvSpPr>
            <p:nvPr/>
          </p:nvSpPr>
          <p:spPr bwMode="auto">
            <a:xfrm>
              <a:off x="1317295" y="2992309"/>
              <a:ext cx="631471" cy="217494"/>
            </a:xfrm>
            <a:prstGeom prst="roundRect">
              <a:avLst>
                <a:gd name="adj" fmla="val 8806"/>
              </a:avLst>
            </a:prstGeom>
            <a:solidFill>
              <a:srgbClr val="1F497D">
                <a:lumMod val="40000"/>
                <a:lumOff val="60000"/>
              </a:srgbClr>
            </a:solidFill>
            <a:ln w="6350">
              <a:solidFill>
                <a:srgbClr val="EEECE1"/>
              </a:solidFill>
              <a:round/>
              <a:headEnd/>
              <a:tailEnd/>
            </a:ln>
            <a:effectLst/>
            <a:extLst/>
          </p:spPr>
          <p:txBody>
            <a:bodyPr lIns="0" tIns="0" rIns="0" bIns="66665"/>
            <a:lstStyle>
              <a:lvl1pPr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42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846138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270000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1693863" defTabSz="846138"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1510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6082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0654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522663" defTabSz="8461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defRPr/>
              </a:pPr>
              <a:r>
                <a:rPr lang="en-US" altLang="ko-KR" sz="1000" b="1" kern="0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/>
                  <a:ea typeface="맑은 고딕" panose="020B0503020000020004" pitchFamily="50" charset="-127"/>
                </a:rPr>
                <a:t>MIS</a:t>
              </a:r>
              <a:endParaRPr lang="en-US" altLang="ko-KR" sz="10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/>
                <a:ea typeface="맑은 고딕" panose="020B0503020000020004" pitchFamily="50" charset="-127"/>
              </a:endParaRPr>
            </a:p>
          </p:txBody>
        </p:sp>
        <p:pic>
          <p:nvPicPr>
            <p:cNvPr id="87" name="Picture 8" descr="사람아이콘-41"/>
            <p:cNvPicPr>
              <a:picLocks noChangeAspect="1" noChangeArrowheads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2386" y="3470664"/>
              <a:ext cx="381710" cy="494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사람아이콘-31"/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7526" y="4458962"/>
              <a:ext cx="478433" cy="511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8" descr="사람아이콘-21"/>
            <p:cNvPicPr>
              <a:picLocks noChangeAspect="1" noChangeArrowheads="1"/>
            </p:cNvPicPr>
            <p:nvPr/>
          </p:nvPicPr>
          <p:blipFill>
            <a:blip r:embed="rId6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8289" y="4496472"/>
              <a:ext cx="580339" cy="498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32" descr="사람아이콘-17"/>
            <p:cNvPicPr>
              <a:picLocks noChangeAspect="1" noChangeArrowheads="1"/>
            </p:cNvPicPr>
            <p:nvPr/>
          </p:nvPicPr>
          <p:blipFill>
            <a:blip r:embed="rId7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7937" y="3570493"/>
              <a:ext cx="615211" cy="449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33" descr="사람아이콘-16"/>
            <p:cNvPicPr>
              <a:picLocks noChangeAspect="1" noChangeArrowheads="1"/>
            </p:cNvPicPr>
            <p:nvPr/>
          </p:nvPicPr>
          <p:blipFill>
            <a:blip r:embed="rId8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3400" y="2377620"/>
              <a:ext cx="404036" cy="5100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36" descr="사람아이콘-13"/>
            <p:cNvPicPr>
              <a:picLocks noChangeAspect="1" noChangeArrowheads="1"/>
            </p:cNvPicPr>
            <p:nvPr/>
          </p:nvPicPr>
          <p:blipFill>
            <a:blip r:embed="rId9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0633" y="2292466"/>
              <a:ext cx="338530" cy="538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39" descr="사람아이콘-10"/>
            <p:cNvPicPr>
              <a:picLocks noChangeAspect="1" noChangeArrowheads="1"/>
            </p:cNvPicPr>
            <p:nvPr/>
          </p:nvPicPr>
          <p:blipFill>
            <a:blip r:embed="rId10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8430" y="2345380"/>
              <a:ext cx="463195" cy="514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537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구성도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Ⅱ. </a:t>
            </a:r>
            <a:r>
              <a:rPr lang="ko-KR" altLang="en-US" sz="1600" b="1" dirty="0">
                <a:latin typeface="+mj-ea"/>
                <a:ea typeface="+mj-ea"/>
              </a:rPr>
              <a:t>순천향대학교 병원 </a:t>
            </a:r>
            <a:r>
              <a:rPr lang="en-US" altLang="ko-KR" sz="1600" b="1" dirty="0">
                <a:latin typeface="+mj-ea"/>
                <a:ea typeface="+mj-ea"/>
              </a:rPr>
              <a:t>DW System</a:t>
            </a:r>
            <a:endParaRPr lang="ko-KR" altLang="en-US" sz="1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0202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1160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400" b="1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Ⅱ. </a:t>
            </a:r>
            <a:r>
              <a:rPr lang="ko-KR" altLang="en-US" sz="1600" b="1" dirty="0">
                <a:latin typeface="+mj-ea"/>
                <a:ea typeface="+mj-ea"/>
              </a:rPr>
              <a:t>순천향대학교 병원 </a:t>
            </a:r>
            <a:r>
              <a:rPr lang="en-US" altLang="ko-KR" sz="1600" b="1" dirty="0">
                <a:latin typeface="+mj-ea"/>
                <a:ea typeface="+mj-ea"/>
              </a:rPr>
              <a:t>DW System</a:t>
            </a:r>
            <a:endParaRPr lang="ko-KR" altLang="en-US" sz="1600" b="1" dirty="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989267"/>
            <a:ext cx="3075697" cy="2051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21" y="3064099"/>
            <a:ext cx="3089390" cy="182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948795"/>
            <a:ext cx="3163838" cy="158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36912"/>
            <a:ext cx="3163838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" name="TextBox 129"/>
          <p:cNvSpPr txBox="1"/>
          <p:nvPr/>
        </p:nvSpPr>
        <p:spPr>
          <a:xfrm>
            <a:off x="6660232" y="948794"/>
            <a:ext cx="2304256" cy="45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다양한 </a:t>
            </a:r>
            <a:r>
              <a:rPr kumimoji="0" lang="ko-KR" altLang="en-US" sz="1000" dirty="0" smtClean="0">
                <a:latin typeface="+mn-ea"/>
                <a:ea typeface="+mn-ea"/>
              </a:rPr>
              <a:t>형태의 </a:t>
            </a:r>
            <a:r>
              <a:rPr kumimoji="0" lang="en-US" altLang="ko-KR" sz="1000" dirty="0" smtClean="0">
                <a:latin typeface="+mn-ea"/>
                <a:ea typeface="+mn-ea"/>
              </a:rPr>
              <a:t>EIS </a:t>
            </a:r>
            <a:r>
              <a:rPr kumimoji="0" lang="ko-KR" altLang="en-US" sz="1000" dirty="0" smtClean="0">
                <a:latin typeface="+mn-ea"/>
                <a:ea typeface="+mn-ea"/>
              </a:rPr>
              <a:t>보고서 </a:t>
            </a:r>
            <a:r>
              <a:rPr kumimoji="0" lang="ko-KR" altLang="en-US" sz="1000" dirty="0" smtClean="0">
                <a:latin typeface="+mn-ea"/>
                <a:ea typeface="+mn-ea"/>
              </a:rPr>
              <a:t>설계 </a:t>
            </a:r>
            <a:r>
              <a:rPr kumimoji="0" lang="ko-KR" altLang="en-US" sz="1000" dirty="0" smtClean="0">
                <a:latin typeface="+mn-ea"/>
                <a:ea typeface="+mn-ea"/>
              </a:rPr>
              <a:t>및 </a:t>
            </a:r>
            <a:r>
              <a:rPr kumimoji="0" lang="en-US" altLang="ko-KR" sz="1000" dirty="0" smtClean="0">
                <a:latin typeface="+mn-ea"/>
                <a:ea typeface="+mn-ea"/>
              </a:rPr>
              <a:t>Database Modeling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4941168"/>
            <a:ext cx="3003691" cy="162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653136"/>
            <a:ext cx="3163838" cy="198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000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3580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개요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Ⅲ. (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err="1">
                <a:latin typeface="맑은 고딕" pitchFamily="50" charset="-127"/>
                <a:ea typeface="맑은 고딕" pitchFamily="50" charset="-127"/>
              </a:rPr>
              <a:t>화진화장품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EIS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251443"/>
              </p:ext>
            </p:extLst>
          </p:nvPr>
        </p:nvGraphicFramePr>
        <p:xfrm>
          <a:off x="250304" y="1124745"/>
          <a:ext cx="8590656" cy="3861264"/>
        </p:xfrm>
        <a:graphic>
          <a:graphicData uri="http://schemas.openxmlformats.org/drawingml/2006/table">
            <a:tbl>
              <a:tblPr/>
              <a:tblGrid>
                <a:gridCol w="1575443"/>
                <a:gridCol w="7015213"/>
              </a:tblGrid>
              <a:tr h="3600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구분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    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4658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시스템명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㈜</a:t>
                      </a:r>
                      <a:r>
                        <a:rPr kumimoji="0"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화진화장품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EIS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System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3437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 개요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6"/>
                        </a:buClr>
                        <a:buSzTx/>
                        <a:buFont typeface="Wingdings" pitchFamily="2" charset="2"/>
                        <a:buChar char="§"/>
                        <a:tabLst>
                          <a:tab pos="809625" algn="l"/>
                        </a:tabLst>
                        <a:defRPr/>
                      </a:pPr>
                      <a:r>
                        <a:rPr kumimoji="0" lang="en-US" altLang="ko-KR" sz="11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AtMAN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 적용 프로젝트</a:t>
                      </a:r>
                      <a:endParaRPr kumimoji="0" lang="en-US" altLang="ko-KR" sz="110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6"/>
                        </a:buClr>
                        <a:buSzTx/>
                        <a:buFont typeface="Wingdings" pitchFamily="2" charset="2"/>
                        <a:buChar char="§"/>
                        <a:tabLst>
                          <a:tab pos="809625" algn="l"/>
                        </a:tabLst>
                        <a:defRPr/>
                      </a:pP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대화형 전략경영시스템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기업의 영업순환 과정상의 현금흐름을 분석하여 기업의 경영상태를 진단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평가하여 경영의사결정을 지원하는 시스템</a:t>
                      </a:r>
                      <a:endParaRPr kumimoji="0" lang="en-US" altLang="ko-KR" sz="110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6"/>
                        </a:buClr>
                        <a:buSzTx/>
                        <a:buFont typeface="Wingdings" pitchFamily="2" charset="2"/>
                        <a:buChar char="§"/>
                        <a:tabLst>
                          <a:tab pos="809625" algn="l"/>
                        </a:tabLst>
                        <a:defRPr/>
                      </a:pP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기업 현금창출능력의 계산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확대화</a:t>
                      </a:r>
                      <a:endParaRPr kumimoji="0" lang="en-US" altLang="ko-KR" sz="110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6"/>
                        </a:buClr>
                        <a:buSzTx/>
                        <a:buFont typeface="Wingdings" pitchFamily="2" charset="2"/>
                        <a:buChar char="§"/>
                        <a:tabLst>
                          <a:tab pos="809625" algn="l"/>
                        </a:tabLst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영업순환과정상의 현금흐름을 분석하여 기업의 경영상태를 진단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평가하여 경영의사결정에 새로운 직관을 제공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086"/>
                        </a:buClr>
                        <a:buSzTx/>
                        <a:buFont typeface="Wingdings" pitchFamily="2" charset="2"/>
                        <a:buChar char="§"/>
                        <a:tabLst>
                          <a:tab pos="809625" algn="l"/>
                        </a:tabLst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real-time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현금흐름분석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Automatic </a:t>
                      </a:r>
                      <a:r>
                        <a:rPr kumimoji="0"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본지점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회계처리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real-time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제품원가계산</a:t>
                      </a:r>
                      <a:endParaRPr kumimoji="0" lang="en-US" altLang="ko-KR" sz="110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610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Role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DA,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QA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Database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구조 설계 및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Data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Modeling</a:t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기간계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시스템과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EIS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 연동 관련 업무 분석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Batch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Program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 업체 관리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…</a:t>
                      </a:r>
                      <a:endParaRPr kumimoji="0" lang="en-US" altLang="ko-KR" sz="11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기간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2015.11 ~ 2016.04</a:t>
                      </a: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48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537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구성도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Ⅲ. (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err="1">
                <a:latin typeface="맑은 고딕" pitchFamily="50" charset="-127"/>
                <a:ea typeface="맑은 고딕" pitchFamily="50" charset="-127"/>
              </a:rPr>
              <a:t>화진화장품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EIS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367582" y="1246947"/>
            <a:ext cx="8385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 smtClea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rPr>
              <a:t>독립한 지식체계들이 전체 </a:t>
            </a:r>
            <a:r>
              <a:rPr kumimoji="0" lang="en-US" altLang="ko-KR" dirty="0" smtClea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rPr>
              <a:t>9blocks, 15Engines </a:t>
            </a:r>
            <a:r>
              <a:rPr kumimoji="0" lang="ko-KR" altLang="en-US" dirty="0" smtClea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rPr>
              <a:t>으로 구성</a:t>
            </a:r>
            <a:endParaRPr kumimoji="0" lang="ko-KR" altLang="en-US" dirty="0">
              <a:solidFill>
                <a:prstClr val="black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323529" y="1726152"/>
            <a:ext cx="2170546" cy="936000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1029105" y="1762152"/>
            <a:ext cx="1428023" cy="86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369174" y="2051472"/>
            <a:ext cx="611216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i="1" dirty="0" smtClean="0">
                <a:latin typeface="+mn-ea"/>
                <a:ea typeface="+mn-ea"/>
              </a:rPr>
              <a:t>f</a:t>
            </a:r>
            <a:r>
              <a:rPr kumimoji="0" lang="en-US" altLang="ko-KR" sz="1100" dirty="0" smtClean="0">
                <a:latin typeface="+mn-ea"/>
                <a:ea typeface="+mn-ea"/>
              </a:rPr>
              <a:t>(1</a:t>
            </a:r>
            <a:r>
              <a:rPr kumimoji="0" lang="en-US" altLang="ko-KR" sz="1100" dirty="0">
                <a:latin typeface="+mn-ea"/>
                <a:ea typeface="+mn-ea"/>
              </a:rPr>
              <a:t>) </a:t>
            </a:r>
            <a:r>
              <a:rPr kumimoji="0" lang="ko-KR" altLang="en-US" sz="1100" dirty="0" smtClean="0">
                <a:latin typeface="+mn-ea"/>
                <a:ea typeface="+mn-ea"/>
              </a:rPr>
              <a:t>현금창출능력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169416" y="1832142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i="1" dirty="0" smtClean="0">
                <a:latin typeface="+mn-ea"/>
                <a:ea typeface="+mn-ea"/>
              </a:rPr>
              <a:t>f</a:t>
            </a:r>
            <a:r>
              <a:rPr kumimoji="0" lang="en-US" altLang="ko-KR" sz="900" dirty="0" smtClean="0">
                <a:latin typeface="+mn-ea"/>
                <a:ea typeface="+mn-ea"/>
              </a:rPr>
              <a:t>(1</a:t>
            </a:r>
            <a:r>
              <a:rPr kumimoji="0" lang="en-US" altLang="ko-KR" sz="900" dirty="0">
                <a:latin typeface="+mn-ea"/>
                <a:ea typeface="+mn-ea"/>
              </a:rPr>
              <a:t>) </a:t>
            </a:r>
            <a:r>
              <a:rPr kumimoji="0" lang="en-US" altLang="ko-KR" sz="900" dirty="0" smtClean="0">
                <a:latin typeface="+mn-ea"/>
                <a:ea typeface="+mn-ea"/>
              </a:rPr>
              <a:t>Engine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현금산출능력계산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cxnSp>
        <p:nvCxnSpPr>
          <p:cNvPr id="229" name="직선 연결선 228"/>
          <p:cNvCxnSpPr/>
          <p:nvPr/>
        </p:nvCxnSpPr>
        <p:spPr>
          <a:xfrm>
            <a:off x="1059116" y="2238341"/>
            <a:ext cx="1368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30" name="직사각형 229"/>
          <p:cNvSpPr/>
          <p:nvPr/>
        </p:nvSpPr>
        <p:spPr>
          <a:xfrm>
            <a:off x="1180566" y="2263614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CBFEngine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배당능력계산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2915295" y="1726152"/>
            <a:ext cx="2170546" cy="936000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3698834" y="1762152"/>
            <a:ext cx="1350060" cy="86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2970176" y="2051472"/>
            <a:ext cx="691711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Evaluation Block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3825834" y="1969037"/>
            <a:ext cx="116146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i="1" dirty="0" smtClean="0">
                <a:latin typeface="+mn-ea"/>
                <a:ea typeface="+mn-ea"/>
              </a:rPr>
              <a:t>f</a:t>
            </a:r>
            <a:r>
              <a:rPr kumimoji="0" lang="en-US" altLang="ko-KR" sz="900" dirty="0" smtClean="0">
                <a:latin typeface="+mn-ea"/>
                <a:ea typeface="+mn-ea"/>
              </a:rPr>
              <a:t>(1</a:t>
            </a:r>
            <a:r>
              <a:rPr kumimoji="0" lang="en-US" altLang="ko-KR" sz="900" dirty="0">
                <a:latin typeface="+mn-ea"/>
                <a:ea typeface="+mn-ea"/>
              </a:rPr>
              <a:t>) </a:t>
            </a:r>
            <a:r>
              <a:rPr kumimoji="0" lang="en-US" altLang="ko-KR" sz="900" dirty="0" err="1" smtClean="0">
                <a:latin typeface="+mn-ea"/>
                <a:ea typeface="+mn-ea"/>
              </a:rPr>
              <a:t>EVALEngine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자기검증</a:t>
            </a:r>
            <a:r>
              <a:rPr kumimoji="0" lang="en-US" altLang="ko-KR" sz="900" dirty="0" smtClean="0">
                <a:latin typeface="+mn-ea"/>
                <a:ea typeface="+mn-ea"/>
              </a:rPr>
              <a:t>/</a:t>
            </a:r>
            <a:r>
              <a:rPr kumimoji="0" lang="ko-KR" altLang="en-US" sz="900" dirty="0" smtClean="0">
                <a:latin typeface="+mn-ea"/>
                <a:ea typeface="+mn-ea"/>
              </a:rPr>
              <a:t>평가</a:t>
            </a:r>
            <a:r>
              <a:rPr kumimoji="0" lang="en-US" altLang="ko-KR" sz="900" dirty="0" smtClean="0">
                <a:latin typeface="+mn-ea"/>
                <a:ea typeface="+mn-ea"/>
              </a:rPr>
              <a:t>·</a:t>
            </a:r>
            <a:r>
              <a:rPr kumimoji="0" lang="ko-KR" altLang="en-US" sz="900" dirty="0" smtClean="0">
                <a:latin typeface="+mn-ea"/>
                <a:ea typeface="+mn-ea"/>
              </a:rPr>
              <a:t>진술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AtMAN</a:t>
            </a:r>
            <a:r>
              <a:rPr kumimoji="0" lang="ko-KR" altLang="en-US" sz="900" dirty="0" err="1" smtClean="0">
                <a:latin typeface="+mn-ea"/>
                <a:ea typeface="+mn-ea"/>
              </a:rPr>
              <a:t>평가부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5357239" y="1726152"/>
            <a:ext cx="3438506" cy="936000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6140777" y="1762152"/>
            <a:ext cx="2612445" cy="86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5364088" y="2041103"/>
            <a:ext cx="746593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err="1" smtClean="0">
                <a:latin typeface="+mn-ea"/>
                <a:ea typeface="+mn-ea"/>
              </a:rPr>
              <a:t>AtMAN</a:t>
            </a:r>
            <a:endParaRPr kumimoji="0" lang="en-US" altLang="ko-KR" sz="1000" dirty="0" smtClean="0"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질문과 대답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6292133" y="1841107"/>
            <a:ext cx="1161468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ANSEngine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6292133" y="2090578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latin typeface="+mn-ea"/>
                <a:ea typeface="+mn-ea"/>
              </a:rPr>
              <a:t>Answers to Question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질문과대답생성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40" name="직사각형 239"/>
          <p:cNvSpPr/>
          <p:nvPr/>
        </p:nvSpPr>
        <p:spPr>
          <a:xfrm>
            <a:off x="7591754" y="2119967"/>
            <a:ext cx="116146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과학적사고과정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질문의인과성검증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대답의논리적증명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cxnSp>
        <p:nvCxnSpPr>
          <p:cNvPr id="241" name="직선 연결선 240"/>
          <p:cNvCxnSpPr/>
          <p:nvPr/>
        </p:nvCxnSpPr>
        <p:spPr>
          <a:xfrm>
            <a:off x="6187894" y="2060467"/>
            <a:ext cx="2520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42" name="직선 연결선 241"/>
          <p:cNvCxnSpPr/>
          <p:nvPr/>
        </p:nvCxnSpPr>
        <p:spPr>
          <a:xfrm rot="16200000">
            <a:off x="7181750" y="2336078"/>
            <a:ext cx="468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43" name="모서리가 둥근 직사각형 242"/>
          <p:cNvSpPr/>
          <p:nvPr/>
        </p:nvSpPr>
        <p:spPr>
          <a:xfrm>
            <a:off x="323529" y="2868095"/>
            <a:ext cx="3586351" cy="1151165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44" name="모서리가 둥근 직사각형 243"/>
          <p:cNvSpPr/>
          <p:nvPr/>
        </p:nvSpPr>
        <p:spPr>
          <a:xfrm>
            <a:off x="1107068" y="2921677"/>
            <a:ext cx="2754097" cy="104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1234069" y="2974215"/>
            <a:ext cx="116146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FCFEngine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latin typeface="+mn-ea"/>
                <a:ea typeface="+mn-ea"/>
              </a:rPr>
              <a:t>Free Cash Flow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생성부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cxnSp>
        <p:nvCxnSpPr>
          <p:cNvPr id="246" name="직선 연결선 245"/>
          <p:cNvCxnSpPr/>
          <p:nvPr/>
        </p:nvCxnSpPr>
        <p:spPr>
          <a:xfrm>
            <a:off x="1162337" y="3519159"/>
            <a:ext cx="267112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47" name="직선 연결선 246"/>
          <p:cNvCxnSpPr/>
          <p:nvPr/>
        </p:nvCxnSpPr>
        <p:spPr>
          <a:xfrm flipV="1">
            <a:off x="2382041" y="2974215"/>
            <a:ext cx="0" cy="504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48" name="직사각형 247"/>
          <p:cNvSpPr/>
          <p:nvPr/>
        </p:nvSpPr>
        <p:spPr>
          <a:xfrm>
            <a:off x="445156" y="3209201"/>
            <a:ext cx="647261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i="1" dirty="0" smtClean="0">
                <a:latin typeface="+mn-ea"/>
                <a:ea typeface="+mn-ea"/>
              </a:rPr>
              <a:t>f</a:t>
            </a:r>
            <a:r>
              <a:rPr kumimoji="0" lang="en-US" altLang="ko-KR" sz="1100" dirty="0" smtClean="0">
                <a:latin typeface="+mn-ea"/>
                <a:ea typeface="+mn-ea"/>
              </a:rPr>
              <a:t>(1)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Financial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Block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49" name="직사각형 248"/>
          <p:cNvSpPr/>
          <p:nvPr/>
        </p:nvSpPr>
        <p:spPr>
          <a:xfrm>
            <a:off x="2495547" y="2974215"/>
            <a:ext cx="1330288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CVAEngine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>
                <a:latin typeface="+mn-ea"/>
                <a:ea typeface="+mn-ea"/>
              </a:rPr>
              <a:t> </a:t>
            </a:r>
            <a:r>
              <a:rPr kumimoji="0" lang="en-US" altLang="ko-KR" sz="900" dirty="0" smtClean="0">
                <a:latin typeface="+mn-ea"/>
                <a:ea typeface="+mn-ea"/>
              </a:rPr>
              <a:t>Cash Value Added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생성부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50" name="직사각형 249"/>
          <p:cNvSpPr/>
          <p:nvPr/>
        </p:nvSpPr>
        <p:spPr>
          <a:xfrm>
            <a:off x="1234068" y="3560329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BSPLEngine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재무제표 </a:t>
            </a:r>
            <a:r>
              <a:rPr kumimoji="0" lang="ko-KR" altLang="en-US" sz="900" dirty="0" err="1" smtClean="0">
                <a:latin typeface="+mn-ea"/>
                <a:ea typeface="+mn-ea"/>
              </a:rPr>
              <a:t>생성부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2495546" y="3560329"/>
            <a:ext cx="1330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BEPEngine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관리회계 </a:t>
            </a:r>
            <a:r>
              <a:rPr kumimoji="0" lang="ko-KR" altLang="en-US" sz="900" dirty="0" err="1" smtClean="0">
                <a:latin typeface="+mn-ea"/>
                <a:ea typeface="+mn-ea"/>
              </a:rPr>
              <a:t>생성부</a:t>
            </a:r>
            <a:endParaRPr kumimoji="0"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52" name="모서리가 둥근 직사각형 251"/>
          <p:cNvSpPr/>
          <p:nvPr/>
        </p:nvSpPr>
        <p:spPr>
          <a:xfrm>
            <a:off x="4271965" y="2867260"/>
            <a:ext cx="2170546" cy="1152000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53" name="모서리가 둥근 직사각형 252"/>
          <p:cNvSpPr/>
          <p:nvPr/>
        </p:nvSpPr>
        <p:spPr>
          <a:xfrm>
            <a:off x="4922125" y="2921260"/>
            <a:ext cx="1428023" cy="104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4326846" y="3193257"/>
            <a:ext cx="562366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i="1" dirty="0" smtClean="0">
                <a:latin typeface="+mn-ea"/>
                <a:ea typeface="+mn-ea"/>
              </a:rPr>
              <a:t>f</a:t>
            </a:r>
            <a:r>
              <a:rPr kumimoji="0" lang="en-US" altLang="ko-KR" sz="1100" dirty="0" smtClean="0">
                <a:latin typeface="+mn-ea"/>
                <a:ea typeface="+mn-ea"/>
              </a:rPr>
              <a:t>(2) </a:t>
            </a:r>
            <a:r>
              <a:rPr kumimoji="0" lang="ko-KR" altLang="en-US" sz="1100" dirty="0" smtClean="0">
                <a:latin typeface="+mn-ea"/>
                <a:ea typeface="+mn-ea"/>
              </a:rPr>
              <a:t>현금창출속도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5000088" y="2908327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CUDEngine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고객의사결정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cxnSp>
        <p:nvCxnSpPr>
          <p:cNvPr id="256" name="직선 연결선 255"/>
          <p:cNvCxnSpPr/>
          <p:nvPr/>
        </p:nvCxnSpPr>
        <p:spPr>
          <a:xfrm>
            <a:off x="4952136" y="3261685"/>
            <a:ext cx="1368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57" name="직사각형 256"/>
          <p:cNvSpPr/>
          <p:nvPr/>
        </p:nvSpPr>
        <p:spPr>
          <a:xfrm>
            <a:off x="5011238" y="3249523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PRDEngine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제품의사결정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cxnSp>
        <p:nvCxnSpPr>
          <p:cNvPr id="258" name="직선 연결선 257"/>
          <p:cNvCxnSpPr/>
          <p:nvPr/>
        </p:nvCxnSpPr>
        <p:spPr>
          <a:xfrm>
            <a:off x="4952136" y="3593425"/>
            <a:ext cx="1368000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59" name="직사각형 258"/>
          <p:cNvSpPr/>
          <p:nvPr/>
        </p:nvSpPr>
        <p:spPr>
          <a:xfrm>
            <a:off x="5011238" y="3590719"/>
            <a:ext cx="1161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WIPEngine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생산의사결정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sp>
        <p:nvSpPr>
          <p:cNvPr id="260" name="모서리가 둥근 직사각형 259"/>
          <p:cNvSpPr/>
          <p:nvPr/>
        </p:nvSpPr>
        <p:spPr>
          <a:xfrm>
            <a:off x="6766090" y="2868095"/>
            <a:ext cx="2029654" cy="1151165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1" name="모서리가 둥근 직사각형 260"/>
          <p:cNvSpPr/>
          <p:nvPr/>
        </p:nvSpPr>
        <p:spPr>
          <a:xfrm>
            <a:off x="7471667" y="2921677"/>
            <a:ext cx="1281556" cy="1044000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6820971" y="3160169"/>
            <a:ext cx="594779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i="1" dirty="0" smtClean="0">
                <a:latin typeface="+mn-ea"/>
                <a:ea typeface="+mn-ea"/>
              </a:rPr>
              <a:t>f</a:t>
            </a:r>
            <a:r>
              <a:rPr kumimoji="0" lang="en-US" altLang="ko-KR" sz="1100" dirty="0" smtClean="0">
                <a:latin typeface="+mn-ea"/>
                <a:ea typeface="+mn-ea"/>
              </a:rPr>
              <a:t>(3) </a:t>
            </a:r>
            <a:r>
              <a:rPr kumimoji="0" lang="ko-KR" altLang="en-US" sz="1100" dirty="0" smtClean="0">
                <a:latin typeface="+mn-ea"/>
                <a:ea typeface="+mn-ea"/>
              </a:rPr>
              <a:t>의사결정탐색시행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7549629" y="3030051"/>
            <a:ext cx="1161468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err="1" smtClean="0">
                <a:latin typeface="+mn-ea"/>
                <a:ea typeface="+mn-ea"/>
              </a:rPr>
              <a:t>SIMEngine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확률적시뮬레이션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latin typeface="+mn-ea"/>
                <a:ea typeface="+mn-ea"/>
              </a:rPr>
              <a:t>베이즈모형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자금수요예측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latin typeface="+mn-ea"/>
                <a:ea typeface="+mn-ea"/>
              </a:rPr>
              <a:t>What-if </a:t>
            </a:r>
            <a:r>
              <a:rPr kumimoji="0" lang="ko-KR" altLang="en-US" sz="900" dirty="0" smtClean="0">
                <a:latin typeface="+mn-ea"/>
                <a:ea typeface="+mn-ea"/>
              </a:rPr>
              <a:t>분석</a:t>
            </a:r>
            <a:endParaRPr kumimoji="0" lang="en-US" altLang="ko-KR" sz="900" dirty="0" smtClean="0"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latin typeface="+mn-ea"/>
                <a:ea typeface="+mn-ea"/>
              </a:rPr>
              <a:t>미래기업</a:t>
            </a:r>
            <a:r>
              <a:rPr kumimoji="0" lang="en-US" altLang="ko-KR" sz="900" dirty="0" smtClean="0">
                <a:latin typeface="+mn-ea"/>
                <a:ea typeface="+mn-ea"/>
              </a:rPr>
              <a:t>(</a:t>
            </a:r>
            <a:r>
              <a:rPr kumimoji="0" lang="ko-KR" altLang="en-US" sz="900" dirty="0" smtClean="0">
                <a:latin typeface="+mn-ea"/>
                <a:ea typeface="+mn-ea"/>
              </a:rPr>
              <a:t>주식</a:t>
            </a:r>
            <a:r>
              <a:rPr kumimoji="0" lang="en-US" altLang="ko-KR" sz="900" dirty="0" smtClean="0">
                <a:latin typeface="+mn-ea"/>
                <a:ea typeface="+mn-ea"/>
              </a:rPr>
              <a:t>)</a:t>
            </a:r>
            <a:r>
              <a:rPr kumimoji="0" lang="ko-KR" altLang="en-US" sz="900" dirty="0" smtClean="0">
                <a:latin typeface="+mn-ea"/>
                <a:ea typeface="+mn-ea"/>
              </a:rPr>
              <a:t>가치</a:t>
            </a:r>
            <a:endParaRPr kumimoji="0" lang="en-US" altLang="ko-KR" sz="900" dirty="0">
              <a:latin typeface="+mn-ea"/>
              <a:ea typeface="+mn-ea"/>
            </a:endParaRPr>
          </a:p>
        </p:txBody>
      </p:sp>
      <p:sp>
        <p:nvSpPr>
          <p:cNvPr id="264" name="모서리가 둥근 직사각형 263"/>
          <p:cNvSpPr/>
          <p:nvPr/>
        </p:nvSpPr>
        <p:spPr>
          <a:xfrm>
            <a:off x="331650" y="4237047"/>
            <a:ext cx="3824970" cy="554985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5" name="모서리가 둥근 직사각형 264"/>
          <p:cNvSpPr/>
          <p:nvPr/>
        </p:nvSpPr>
        <p:spPr>
          <a:xfrm>
            <a:off x="1197010" y="4285394"/>
            <a:ext cx="2628823" cy="441983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386531" y="4343008"/>
            <a:ext cx="720537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err="1" smtClean="0">
                <a:latin typeface="+mn-ea"/>
                <a:ea typeface="+mn-ea"/>
              </a:rPr>
              <a:t>CSDEngine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1265648" y="4342236"/>
            <a:ext cx="2433186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Converting data-format to </a:t>
            </a:r>
            <a:r>
              <a:rPr kumimoji="0" lang="en-US" altLang="ko-KR" sz="1100" dirty="0" err="1" smtClean="0">
                <a:latin typeface="+mn-ea"/>
                <a:ea typeface="+mn-ea"/>
              </a:rPr>
              <a:t>AtMAN</a:t>
            </a:r>
            <a:r>
              <a:rPr kumimoji="0" lang="en-US" altLang="ko-KR" sz="1100" dirty="0" smtClean="0">
                <a:latin typeface="+mn-ea"/>
                <a:ea typeface="+mn-ea"/>
              </a:rPr>
              <a:t> from source data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4853437" y="4237047"/>
            <a:ext cx="3899193" cy="554985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9" name="모서리가 둥근 직사각형 268"/>
          <p:cNvSpPr/>
          <p:nvPr/>
        </p:nvSpPr>
        <p:spPr>
          <a:xfrm>
            <a:off x="6039760" y="4285394"/>
            <a:ext cx="2628823" cy="441983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4935561" y="4310290"/>
            <a:ext cx="1092736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err="1" smtClean="0">
                <a:latin typeface="+mn-ea"/>
                <a:ea typeface="+mn-ea"/>
              </a:rPr>
              <a:t>PICOEngine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6108398" y="4317563"/>
            <a:ext cx="2433186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Costing instantly by reverse method</a:t>
            </a: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323528" y="5047907"/>
            <a:ext cx="8429101" cy="410786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406398" y="5143864"/>
            <a:ext cx="720537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err="1" smtClean="0">
                <a:latin typeface="+mn-ea"/>
                <a:ea typeface="+mn-ea"/>
              </a:rPr>
              <a:t>ETLEngine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74" name="모서리가 둥근 직사각형 273"/>
          <p:cNvSpPr/>
          <p:nvPr/>
        </p:nvSpPr>
        <p:spPr>
          <a:xfrm>
            <a:off x="1209804" y="5118579"/>
            <a:ext cx="7501293" cy="269443"/>
          </a:xfrm>
          <a:prstGeom prst="roundRect">
            <a:avLst>
              <a:gd name="adj" fmla="val 5434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5" name="직사각형 274"/>
          <p:cNvSpPr/>
          <p:nvPr/>
        </p:nvSpPr>
        <p:spPr>
          <a:xfrm>
            <a:off x="1277481" y="5168662"/>
            <a:ext cx="56315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latin typeface="+mn-ea"/>
                <a:ea typeface="+mn-ea"/>
              </a:rPr>
              <a:t>Real-Time importing transaction data to </a:t>
            </a:r>
            <a:r>
              <a:rPr kumimoji="0" lang="en-US" altLang="ko-KR" sz="1100" dirty="0" err="1" smtClean="0">
                <a:latin typeface="+mn-ea"/>
                <a:ea typeface="+mn-ea"/>
              </a:rPr>
              <a:t>AtMAN</a:t>
            </a:r>
            <a:r>
              <a:rPr kumimoji="0" lang="en-US" altLang="ko-KR" sz="1100" dirty="0" smtClean="0">
                <a:latin typeface="+mn-ea"/>
                <a:ea typeface="+mn-ea"/>
              </a:rPr>
              <a:t> from legacy system</a:t>
            </a:r>
            <a:endParaRPr kumimoji="0" lang="en-US" altLang="ko-KR" sz="1100" dirty="0">
              <a:latin typeface="+mn-ea"/>
              <a:ea typeface="+mn-ea"/>
            </a:endParaRP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331650" y="5711948"/>
            <a:ext cx="8420980" cy="741388"/>
          </a:xfrm>
          <a:prstGeom prst="roundRect">
            <a:avLst>
              <a:gd name="adj" fmla="val 5434"/>
            </a:avLst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414519" y="5807906"/>
            <a:ext cx="2555657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0F487B"/>
                </a:solidFill>
                <a:latin typeface="+mn-ea"/>
                <a:ea typeface="+mn-ea"/>
              </a:rPr>
              <a:t>Legacy System( ERP/ </a:t>
            </a:r>
            <a:r>
              <a:rPr kumimoji="0" lang="en-US" altLang="ko-KR" sz="1100" dirty="0" err="1" smtClean="0">
                <a:solidFill>
                  <a:srgbClr val="0F487B"/>
                </a:solidFill>
                <a:latin typeface="+mn-ea"/>
                <a:ea typeface="+mn-ea"/>
              </a:rPr>
              <a:t>Inhouse</a:t>
            </a:r>
            <a:r>
              <a:rPr kumimoji="0" lang="en-US" altLang="ko-KR" sz="1100" dirty="0" smtClean="0">
                <a:solidFill>
                  <a:srgbClr val="0F487B"/>
                </a:solidFill>
                <a:latin typeface="+mn-ea"/>
                <a:ea typeface="+mn-ea"/>
              </a:rPr>
              <a:t> System)</a:t>
            </a:r>
            <a:endParaRPr kumimoji="0" lang="en-US" altLang="ko-KR" sz="1100" dirty="0">
              <a:solidFill>
                <a:srgbClr val="0F487B"/>
              </a:solidFill>
              <a:latin typeface="+mn-ea"/>
              <a:ea typeface="+mn-ea"/>
            </a:endParaRPr>
          </a:p>
        </p:txBody>
      </p:sp>
      <p:grpSp>
        <p:nvGrpSpPr>
          <p:cNvPr id="278" name="그룹 277"/>
          <p:cNvGrpSpPr/>
          <p:nvPr/>
        </p:nvGrpSpPr>
        <p:grpSpPr>
          <a:xfrm>
            <a:off x="494317" y="6032599"/>
            <a:ext cx="860669" cy="318703"/>
            <a:chOff x="4412179" y="6282194"/>
            <a:chExt cx="860669" cy="386302"/>
          </a:xfrm>
        </p:grpSpPr>
        <p:sp>
          <p:nvSpPr>
            <p:cNvPr id="279" name="모서리가 둥근 직사각형 278"/>
            <p:cNvSpPr/>
            <p:nvPr/>
          </p:nvSpPr>
          <p:spPr>
            <a:xfrm>
              <a:off x="4412179" y="6282194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80" name="직사각형 279"/>
            <p:cNvSpPr/>
            <p:nvPr/>
          </p:nvSpPr>
          <p:spPr>
            <a:xfrm>
              <a:off x="4575099" y="6390707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구 매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81" name="그룹 280"/>
          <p:cNvGrpSpPr/>
          <p:nvPr/>
        </p:nvGrpSpPr>
        <p:grpSpPr>
          <a:xfrm>
            <a:off x="1524304" y="6032599"/>
            <a:ext cx="860669" cy="318703"/>
            <a:chOff x="5319349" y="6276711"/>
            <a:chExt cx="860669" cy="386302"/>
          </a:xfrm>
        </p:grpSpPr>
        <p:sp>
          <p:nvSpPr>
            <p:cNvPr id="282" name="모서리가 둥근 직사각형 281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83" name="직사각형 282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생 산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84" name="그룹 283"/>
          <p:cNvGrpSpPr/>
          <p:nvPr/>
        </p:nvGrpSpPr>
        <p:grpSpPr>
          <a:xfrm>
            <a:off x="2554291" y="6032599"/>
            <a:ext cx="860669" cy="318703"/>
            <a:chOff x="5319349" y="6276711"/>
            <a:chExt cx="860669" cy="386302"/>
          </a:xfrm>
        </p:grpSpPr>
        <p:sp>
          <p:nvSpPr>
            <p:cNvPr id="285" name="모서리가 둥근 직사각형 284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86" name="직사각형 285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재 고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87" name="그룹 286"/>
          <p:cNvGrpSpPr/>
          <p:nvPr/>
        </p:nvGrpSpPr>
        <p:grpSpPr>
          <a:xfrm>
            <a:off x="3584278" y="6032599"/>
            <a:ext cx="860669" cy="318703"/>
            <a:chOff x="5319349" y="6276711"/>
            <a:chExt cx="860669" cy="386302"/>
          </a:xfrm>
        </p:grpSpPr>
        <p:sp>
          <p:nvSpPr>
            <p:cNvPr id="288" name="모서리가 둥근 직사각형 287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89" name="직사각형 288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영 업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90" name="그룹 289"/>
          <p:cNvGrpSpPr/>
          <p:nvPr/>
        </p:nvGrpSpPr>
        <p:grpSpPr>
          <a:xfrm>
            <a:off x="4614265" y="6032599"/>
            <a:ext cx="860669" cy="318703"/>
            <a:chOff x="5319349" y="6276711"/>
            <a:chExt cx="860669" cy="386302"/>
          </a:xfrm>
        </p:grpSpPr>
        <p:sp>
          <p:nvSpPr>
            <p:cNvPr id="291" name="모서리가 둥근 직사각형 290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92" name="직사각형 291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자 산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93" name="그룹 292"/>
          <p:cNvGrpSpPr/>
          <p:nvPr/>
        </p:nvGrpSpPr>
        <p:grpSpPr>
          <a:xfrm>
            <a:off x="5644252" y="6032599"/>
            <a:ext cx="860669" cy="318703"/>
            <a:chOff x="5319349" y="6276711"/>
            <a:chExt cx="860669" cy="386302"/>
          </a:xfrm>
        </p:grpSpPr>
        <p:sp>
          <p:nvSpPr>
            <p:cNvPr id="294" name="모서리가 둥근 직사각형 293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95" name="직사각형 294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비 용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96" name="그룹 295"/>
          <p:cNvGrpSpPr/>
          <p:nvPr/>
        </p:nvGrpSpPr>
        <p:grpSpPr>
          <a:xfrm>
            <a:off x="6674239" y="6032599"/>
            <a:ext cx="860669" cy="318703"/>
            <a:chOff x="5319349" y="6276711"/>
            <a:chExt cx="860669" cy="386302"/>
          </a:xfrm>
        </p:grpSpPr>
        <p:sp>
          <p:nvSpPr>
            <p:cNvPr id="297" name="모서리가 둥근 직사각형 296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98" name="직사각형 297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자 금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7704228" y="6032599"/>
            <a:ext cx="860669" cy="318703"/>
            <a:chOff x="5319349" y="6276711"/>
            <a:chExt cx="860669" cy="386302"/>
          </a:xfrm>
        </p:grpSpPr>
        <p:sp>
          <p:nvSpPr>
            <p:cNvPr id="300" name="모서리가 둥근 직사각형 299"/>
            <p:cNvSpPr/>
            <p:nvPr/>
          </p:nvSpPr>
          <p:spPr>
            <a:xfrm>
              <a:off x="5319349" y="6276711"/>
              <a:ext cx="860669" cy="386302"/>
            </a:xfrm>
            <a:prstGeom prst="roundRect">
              <a:avLst>
                <a:gd name="adj" fmla="val 5434"/>
              </a:avLst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01" name="직사각형 300"/>
            <p:cNvSpPr/>
            <p:nvPr/>
          </p:nvSpPr>
          <p:spPr>
            <a:xfrm>
              <a:off x="5482269" y="6385224"/>
              <a:ext cx="534829" cy="169277"/>
            </a:xfrm>
            <a:prstGeom prst="rect">
              <a:avLst/>
            </a:prstGeom>
            <a:solidFill>
              <a:srgbClr val="047AB9"/>
            </a:solidFill>
            <a:ln w="12700" cap="flat" cmpd="sng" algn="ctr">
              <a:solidFill>
                <a:srgbClr val="047AB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전 표</a:t>
              </a:r>
              <a:endPara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302" name="위쪽 화살표 301"/>
          <p:cNvSpPr/>
          <p:nvPr/>
        </p:nvSpPr>
        <p:spPr>
          <a:xfrm>
            <a:off x="533805" y="5458693"/>
            <a:ext cx="446585" cy="237485"/>
          </a:xfrm>
          <a:prstGeom prst="upArrow">
            <a:avLst/>
          </a:prstGeom>
          <a:solidFill>
            <a:srgbClr val="5B9BD5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303" name="꺾인 연결선 302"/>
          <p:cNvCxnSpPr>
            <a:stCxn id="304" idx="0"/>
            <a:endCxn id="268" idx="2"/>
          </p:cNvCxnSpPr>
          <p:nvPr/>
        </p:nvCxnSpPr>
        <p:spPr>
          <a:xfrm rot="5400000" flipH="1" flipV="1">
            <a:off x="3651823" y="1891387"/>
            <a:ext cx="250565" cy="605185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sp>
        <p:nvSpPr>
          <p:cNvPr id="304" name="TextBox 303"/>
          <p:cNvSpPr txBox="1"/>
          <p:nvPr/>
        </p:nvSpPr>
        <p:spPr>
          <a:xfrm>
            <a:off x="617967" y="5042597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latin typeface="+mn-ea"/>
                <a:ea typeface="+mn-ea"/>
              </a:rPr>
              <a:t> </a:t>
            </a:r>
            <a:endParaRPr kumimoji="0" lang="ko-KR" altLang="en-US" dirty="0">
              <a:latin typeface="+mn-ea"/>
              <a:ea typeface="+mn-ea"/>
            </a:endParaRPr>
          </a:p>
        </p:txBody>
      </p:sp>
      <p:cxnSp>
        <p:nvCxnSpPr>
          <p:cNvPr id="305" name="꺾인 연결선 304"/>
          <p:cNvCxnSpPr>
            <a:stCxn id="304" idx="0"/>
            <a:endCxn id="264" idx="2"/>
          </p:cNvCxnSpPr>
          <p:nvPr/>
        </p:nvCxnSpPr>
        <p:spPr>
          <a:xfrm rot="5400000" flipH="1" flipV="1">
            <a:off x="1372374" y="4170836"/>
            <a:ext cx="250565" cy="1492958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sp>
        <p:nvSpPr>
          <p:cNvPr id="306" name="TextBox 305"/>
          <p:cNvSpPr txBox="1"/>
          <p:nvPr/>
        </p:nvSpPr>
        <p:spPr>
          <a:xfrm>
            <a:off x="1685667" y="3643748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latin typeface="+mn-ea"/>
                <a:ea typeface="+mn-ea"/>
              </a:rPr>
              <a:t> </a:t>
            </a:r>
            <a:endParaRPr kumimoji="0" lang="ko-KR" altLang="en-US" dirty="0">
              <a:latin typeface="+mn-ea"/>
              <a:ea typeface="+mn-ea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2950930" y="3652587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latin typeface="+mn-ea"/>
                <a:ea typeface="+mn-ea"/>
              </a:rPr>
              <a:t> </a:t>
            </a:r>
            <a:endParaRPr kumimoji="0" lang="ko-KR" altLang="en-US" dirty="0">
              <a:latin typeface="+mn-ea"/>
              <a:ea typeface="+mn-ea"/>
            </a:endParaRPr>
          </a:p>
        </p:txBody>
      </p:sp>
      <p:cxnSp>
        <p:nvCxnSpPr>
          <p:cNvPr id="308" name="꺾인 연결선 307"/>
          <p:cNvCxnSpPr>
            <a:stCxn id="264" idx="0"/>
            <a:endCxn id="306" idx="2"/>
          </p:cNvCxnSpPr>
          <p:nvPr/>
        </p:nvCxnSpPr>
        <p:spPr>
          <a:xfrm rot="16200000" flipV="1">
            <a:off x="1919523" y="3912435"/>
            <a:ext cx="223967" cy="425258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09" name="꺾인 연결선 308"/>
          <p:cNvCxnSpPr>
            <a:stCxn id="268" idx="0"/>
            <a:endCxn id="307" idx="2"/>
          </p:cNvCxnSpPr>
          <p:nvPr/>
        </p:nvCxnSpPr>
        <p:spPr>
          <a:xfrm rot="16200000" flipV="1">
            <a:off x="4836023" y="2270036"/>
            <a:ext cx="215128" cy="3718894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0" name="꺾인 연결선 309"/>
          <p:cNvCxnSpPr>
            <a:stCxn id="268" idx="0"/>
            <a:endCxn id="252" idx="2"/>
          </p:cNvCxnSpPr>
          <p:nvPr/>
        </p:nvCxnSpPr>
        <p:spPr>
          <a:xfrm rot="16200000" flipV="1">
            <a:off x="5971243" y="3405256"/>
            <a:ext cx="217787" cy="1445796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1" name="꺾인 연결선 310"/>
          <p:cNvCxnSpPr>
            <a:stCxn id="268" idx="0"/>
            <a:endCxn id="260" idx="2"/>
          </p:cNvCxnSpPr>
          <p:nvPr/>
        </p:nvCxnSpPr>
        <p:spPr>
          <a:xfrm rot="5400000" flipH="1" flipV="1">
            <a:off x="7183082" y="3639213"/>
            <a:ext cx="217787" cy="977883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2" name="직선 화살표 연결선 311"/>
          <p:cNvCxnSpPr>
            <a:stCxn id="264" idx="3"/>
            <a:endCxn id="268" idx="1"/>
          </p:cNvCxnSpPr>
          <p:nvPr/>
        </p:nvCxnSpPr>
        <p:spPr>
          <a:xfrm>
            <a:off x="4156620" y="4514540"/>
            <a:ext cx="696817" cy="0"/>
          </a:xfrm>
          <a:prstGeom prst="straightConnector1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3" name="직선 화살표 연결선 312"/>
          <p:cNvCxnSpPr>
            <a:stCxn id="225" idx="3"/>
            <a:endCxn id="231" idx="1"/>
          </p:cNvCxnSpPr>
          <p:nvPr/>
        </p:nvCxnSpPr>
        <p:spPr>
          <a:xfrm>
            <a:off x="2494075" y="2194152"/>
            <a:ext cx="421220" cy="0"/>
          </a:xfrm>
          <a:prstGeom prst="straightConnector1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4" name="꺾인 연결선 313"/>
          <p:cNvCxnSpPr>
            <a:stCxn id="243" idx="0"/>
            <a:endCxn id="225" idx="2"/>
          </p:cNvCxnSpPr>
          <p:nvPr/>
        </p:nvCxnSpPr>
        <p:spPr>
          <a:xfrm rot="16200000" flipV="1">
            <a:off x="1659783" y="2411172"/>
            <a:ext cx="205943" cy="707903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5" name="꺾인 연결선 314"/>
          <p:cNvCxnSpPr>
            <a:stCxn id="252" idx="0"/>
            <a:endCxn id="231" idx="2"/>
          </p:cNvCxnSpPr>
          <p:nvPr/>
        </p:nvCxnSpPr>
        <p:spPr>
          <a:xfrm rot="16200000" flipV="1">
            <a:off x="4576349" y="2086371"/>
            <a:ext cx="205108" cy="1356670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6" name="꺾인 연결선 315"/>
          <p:cNvCxnSpPr>
            <a:stCxn id="252" idx="0"/>
            <a:endCxn id="235" idx="2"/>
          </p:cNvCxnSpPr>
          <p:nvPr/>
        </p:nvCxnSpPr>
        <p:spPr>
          <a:xfrm rot="5400000" flipH="1" flipV="1">
            <a:off x="6114311" y="1905079"/>
            <a:ext cx="205108" cy="1719254"/>
          </a:xfrm>
          <a:prstGeom prst="bentConnector3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7" name="직선 화살표 연결선 316"/>
          <p:cNvCxnSpPr>
            <a:stCxn id="243" idx="3"/>
            <a:endCxn id="252" idx="1"/>
          </p:cNvCxnSpPr>
          <p:nvPr/>
        </p:nvCxnSpPr>
        <p:spPr>
          <a:xfrm flipV="1">
            <a:off x="3909880" y="3443260"/>
            <a:ext cx="362085" cy="418"/>
          </a:xfrm>
          <a:prstGeom prst="straightConnector1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8" name="직선 화살표 연결선 317"/>
          <p:cNvCxnSpPr>
            <a:stCxn id="252" idx="3"/>
            <a:endCxn id="260" idx="1"/>
          </p:cNvCxnSpPr>
          <p:nvPr/>
        </p:nvCxnSpPr>
        <p:spPr>
          <a:xfrm>
            <a:off x="6442511" y="3443260"/>
            <a:ext cx="323579" cy="418"/>
          </a:xfrm>
          <a:prstGeom prst="straightConnector1">
            <a:avLst/>
          </a:prstGeom>
          <a:noFill/>
          <a:ln w="6350" cap="flat" cmpd="sng" algn="ctr">
            <a:solidFill>
              <a:srgbClr val="05495E"/>
            </a:solidFill>
            <a:prstDash val="solid"/>
            <a:miter lim="800000"/>
            <a:tailEnd type="triangle" w="sm" len="med"/>
          </a:ln>
          <a:effectLst/>
        </p:spPr>
      </p:cxnSp>
      <p:cxnSp>
        <p:nvCxnSpPr>
          <p:cNvPr id="319" name="직선 연결선 318"/>
          <p:cNvCxnSpPr/>
          <p:nvPr/>
        </p:nvCxnSpPr>
        <p:spPr>
          <a:xfrm flipV="1">
            <a:off x="2382041" y="3560329"/>
            <a:ext cx="0" cy="36000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887640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1160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400" b="1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Ⅲ. (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err="1">
                <a:latin typeface="맑은 고딕" pitchFamily="50" charset="-127"/>
                <a:ea typeface="맑은 고딕" pitchFamily="50" charset="-127"/>
              </a:rPr>
              <a:t>화진화장품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EIS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0803"/>
            <a:ext cx="4366120" cy="23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012" y="980803"/>
            <a:ext cx="4347083" cy="23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85738"/>
            <a:ext cx="4366120" cy="25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012" y="3484572"/>
            <a:ext cx="4353547" cy="253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626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3580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개요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Ⅳ. SK Telecom Imagine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9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101571"/>
              </p:ext>
            </p:extLst>
          </p:nvPr>
        </p:nvGraphicFramePr>
        <p:xfrm>
          <a:off x="250304" y="1124745"/>
          <a:ext cx="8590656" cy="3384375"/>
        </p:xfrm>
        <a:graphic>
          <a:graphicData uri="http://schemas.openxmlformats.org/drawingml/2006/table">
            <a:tbl>
              <a:tblPr/>
              <a:tblGrid>
                <a:gridCol w="1575443"/>
                <a:gridCol w="7015213"/>
              </a:tblGrid>
              <a:tr h="36003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구분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    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</a:tr>
              <a:tr h="4658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시스템명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SKT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Imagine System 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2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시스템 개요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정산관리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영업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판매관리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출고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재고관리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통계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/BI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POS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기능을 포함한 </a:t>
                      </a:r>
                      <a:r>
                        <a:rPr kumimoji="0" lang="en-US" altLang="ko-KR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Total </a:t>
                      </a:r>
                      <a:r>
                        <a:rPr kumimoji="0" lang="ko-KR" altLang="en-US" sz="110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영업 정보 및 물류 관리 솔루션</a:t>
                      </a:r>
                      <a:endParaRPr kumimoji="0"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841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Role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바탕체"/>
                          <a:ea typeface="바탕체"/>
                        </a:defRPr>
                      </a:lvl9pPr>
                    </a:lstStyle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DA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현업 인터뷰 및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시스템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분석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통계 및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BI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부분 설계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물류 유통 업무 컨설팅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 시스템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Data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Modeling</a:t>
                      </a:r>
                      <a:b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데이터 검증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시스템 연동관련 외부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업체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관리 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일정</a:t>
                      </a: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0"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 </a:t>
                      </a:r>
                      <a:r>
                        <a:rPr kumimoji="0"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… 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6213" marR="0" lvl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완료 후 유지보수 지원</a:t>
                      </a:r>
                      <a:endParaRPr kumimoji="0" lang="en-US" altLang="ko-KR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굴림" pitchFamily="50" charset="-127"/>
                        </a:rPr>
                        <a:t>기간</a:t>
                      </a:r>
                      <a:endParaRPr kumimoji="1" lang="ko-KR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굴림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indent="-176213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2012.08 ~ 2014.12</a:t>
                      </a: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F5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2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537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시스템 구성도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Ⅳ. SK Telecom Imagine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47"/>
          <p:cNvSpPr>
            <a:spLocks noChangeArrowheads="1"/>
          </p:cNvSpPr>
          <p:nvPr/>
        </p:nvSpPr>
        <p:spPr bwMode="auto">
          <a:xfrm>
            <a:off x="1000098" y="5214949"/>
            <a:ext cx="3643339" cy="1214447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150780" y="1571613"/>
            <a:ext cx="6778673" cy="3143272"/>
          </a:xfrm>
          <a:prstGeom prst="rect">
            <a:avLst/>
          </a:prstGeom>
          <a:solidFill>
            <a:srgbClr val="EAEAEA"/>
          </a:solidFill>
          <a:ln w="9525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85719" y="2017702"/>
            <a:ext cx="6286544" cy="2554307"/>
            <a:chOff x="714348" y="1731950"/>
            <a:chExt cx="6286544" cy="2554307"/>
          </a:xfrm>
        </p:grpSpPr>
        <p:grpSp>
          <p:nvGrpSpPr>
            <p:cNvPr id="9" name="그룹 8"/>
            <p:cNvGrpSpPr/>
            <p:nvPr/>
          </p:nvGrpSpPr>
          <p:grpSpPr>
            <a:xfrm>
              <a:off x="714348" y="1751001"/>
              <a:ext cx="6286544" cy="2535256"/>
              <a:chOff x="2085946" y="1751000"/>
              <a:chExt cx="4730750" cy="2771775"/>
            </a:xfrm>
          </p:grpSpPr>
          <p:sp>
            <p:nvSpPr>
              <p:cNvPr id="11" name="Rectangle 212"/>
              <p:cNvSpPr>
                <a:spLocks noChangeArrowheads="1"/>
              </p:cNvSpPr>
              <p:nvPr/>
            </p:nvSpPr>
            <p:spPr bwMode="auto">
              <a:xfrm>
                <a:off x="2087534" y="4319575"/>
                <a:ext cx="4729162" cy="203200"/>
              </a:xfrm>
              <a:prstGeom prst="rect">
                <a:avLst/>
              </a:prstGeom>
              <a:solidFill>
                <a:srgbClr val="969696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969696"/>
                </a:extrusionClr>
              </a:sp3d>
            </p:spPr>
            <p:txBody>
              <a:bodyPr wrap="none" anchor="ctr">
                <a:flatTx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ea typeface="+mn-ea"/>
                  </a:rPr>
                  <a:t>Web Application Server</a:t>
                </a:r>
              </a:p>
            </p:txBody>
          </p:sp>
          <p:sp>
            <p:nvSpPr>
              <p:cNvPr id="12" name="Rectangle 214"/>
              <p:cNvSpPr>
                <a:spLocks noChangeArrowheads="1"/>
              </p:cNvSpPr>
              <p:nvPr/>
            </p:nvSpPr>
            <p:spPr bwMode="auto">
              <a:xfrm>
                <a:off x="2085946" y="1751000"/>
                <a:ext cx="4730750" cy="2568575"/>
              </a:xfrm>
              <a:prstGeom prst="rect">
                <a:avLst/>
              </a:prstGeom>
              <a:solidFill>
                <a:srgbClr val="6699FF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6699FF"/>
                </a:extrusionClr>
              </a:sp3d>
            </p:spPr>
            <p:txBody>
              <a:bodyPr lIns="90000" tIns="46800" rIns="90000" bIns="46800" anchor="ctr">
                <a:flatTx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10" name="Rectangle 164"/>
            <p:cNvSpPr>
              <a:spLocks noChangeArrowheads="1"/>
            </p:cNvSpPr>
            <p:nvPr/>
          </p:nvSpPr>
          <p:spPr bwMode="auto">
            <a:xfrm>
              <a:off x="3128421" y="1731950"/>
              <a:ext cx="1390124" cy="2923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</a:rPr>
                <a:t>Imagine System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57157" y="2357430"/>
            <a:ext cx="1071570" cy="1500198"/>
            <a:chOff x="785786" y="2071678"/>
            <a:chExt cx="1214446" cy="1500198"/>
          </a:xfrm>
        </p:grpSpPr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785786" y="2071678"/>
              <a:ext cx="1214446" cy="1500198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기준</a:t>
              </a:r>
              <a:r>
                <a:rPr kumimoji="0" lang="ko-KR" altLang="en-US" sz="900" kern="0" dirty="0" smtClean="0">
                  <a:solidFill>
                    <a:srgbClr val="006699"/>
                  </a:solidFill>
                  <a:latin typeface="+mn-ea"/>
                  <a:ea typeface="+mn-ea"/>
                </a:rPr>
                <a:t>정보</a:t>
              </a:r>
              <a:endPara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898480" y="2322503"/>
              <a:ext cx="1007619" cy="1177936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6" name="AutoShape 164"/>
            <p:cNvSpPr>
              <a:spLocks noChangeArrowheads="1"/>
            </p:cNvSpPr>
            <p:nvPr/>
          </p:nvSpPr>
          <p:spPr bwMode="auto">
            <a:xfrm>
              <a:off x="964772" y="2357430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상품관리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7" name="AutoShape 164"/>
            <p:cNvSpPr>
              <a:spLocks noChangeArrowheads="1"/>
            </p:cNvSpPr>
            <p:nvPr/>
          </p:nvSpPr>
          <p:spPr bwMode="auto">
            <a:xfrm>
              <a:off x="969450" y="2643182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매장관리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8" name="AutoShape 164"/>
            <p:cNvSpPr>
              <a:spLocks noChangeArrowheads="1"/>
            </p:cNvSpPr>
            <p:nvPr/>
          </p:nvSpPr>
          <p:spPr bwMode="auto">
            <a:xfrm>
              <a:off x="965264" y="2928934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매입처관리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9" name="AutoShape 164"/>
            <p:cNvSpPr>
              <a:spLocks noChangeArrowheads="1"/>
            </p:cNvSpPr>
            <p:nvPr/>
          </p:nvSpPr>
          <p:spPr bwMode="auto">
            <a:xfrm>
              <a:off x="973973" y="3214686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가격정책관리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1571603" y="2357430"/>
            <a:ext cx="1071570" cy="1500198"/>
            <a:chOff x="785786" y="2071678"/>
            <a:chExt cx="1214446" cy="1500198"/>
          </a:xfrm>
        </p:grpSpPr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>
              <a:off x="785786" y="2071678"/>
              <a:ext cx="1214446" cy="1500198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구매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/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정산</a:t>
              </a:r>
              <a:endPara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898480" y="2322503"/>
              <a:ext cx="1007619" cy="1177936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3" name="AutoShape 164"/>
            <p:cNvSpPr>
              <a:spLocks noChangeArrowheads="1"/>
            </p:cNvSpPr>
            <p:nvPr/>
          </p:nvSpPr>
          <p:spPr bwMode="auto">
            <a:xfrm>
              <a:off x="964772" y="2357430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발주관리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4" name="AutoShape 164"/>
            <p:cNvSpPr>
              <a:spLocks noChangeArrowheads="1"/>
            </p:cNvSpPr>
            <p:nvPr/>
          </p:nvSpPr>
          <p:spPr bwMode="auto">
            <a:xfrm>
              <a:off x="969450" y="2643182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발주입고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5" name="AutoShape 164"/>
            <p:cNvSpPr>
              <a:spLocks noChangeArrowheads="1"/>
            </p:cNvSpPr>
            <p:nvPr/>
          </p:nvSpPr>
          <p:spPr bwMode="auto">
            <a:xfrm>
              <a:off x="965264" y="2928934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매입처반품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973973" y="3214686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매입정산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786049" y="2357430"/>
            <a:ext cx="1071570" cy="1500198"/>
            <a:chOff x="785786" y="2071678"/>
            <a:chExt cx="1214446" cy="1500198"/>
          </a:xfrm>
        </p:grpSpPr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785786" y="2071678"/>
              <a:ext cx="1214446" cy="1500198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영업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/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판매</a:t>
              </a:r>
              <a:endPara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898480" y="2322503"/>
              <a:ext cx="1007619" cy="1177936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0" name="AutoShape 164"/>
            <p:cNvSpPr>
              <a:spLocks noChangeArrowheads="1"/>
            </p:cNvSpPr>
            <p:nvPr/>
          </p:nvSpPr>
          <p:spPr bwMode="auto">
            <a:xfrm>
              <a:off x="964772" y="2357430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판매현황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1" name="AutoShape 164"/>
            <p:cNvSpPr>
              <a:spLocks noChangeArrowheads="1"/>
            </p:cNvSpPr>
            <p:nvPr/>
          </p:nvSpPr>
          <p:spPr bwMode="auto">
            <a:xfrm>
              <a:off x="969450" y="2643182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계산서관리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2" name="AutoShape 164"/>
            <p:cNvSpPr>
              <a:spLocks noChangeArrowheads="1"/>
            </p:cNvSpPr>
            <p:nvPr/>
          </p:nvSpPr>
          <p:spPr bwMode="auto">
            <a:xfrm>
              <a:off x="965264" y="2928934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승인내역조회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3" name="AutoShape 164"/>
            <p:cNvSpPr>
              <a:spLocks noChangeArrowheads="1"/>
            </p:cNvSpPr>
            <p:nvPr/>
          </p:nvSpPr>
          <p:spPr bwMode="auto">
            <a:xfrm>
              <a:off x="973973" y="3214686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입금내역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4000495" y="2357430"/>
            <a:ext cx="1071570" cy="1500198"/>
            <a:chOff x="785786" y="2071678"/>
            <a:chExt cx="1214446" cy="1500198"/>
          </a:xfrm>
        </p:grpSpPr>
        <p:sp>
          <p:nvSpPr>
            <p:cNvPr id="35" name="Rectangle 25"/>
            <p:cNvSpPr>
              <a:spLocks noChangeArrowheads="1"/>
            </p:cNvSpPr>
            <p:nvPr/>
          </p:nvSpPr>
          <p:spPr bwMode="auto">
            <a:xfrm>
              <a:off x="785786" y="2071678"/>
              <a:ext cx="1214446" cy="1500198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재고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/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출고</a:t>
              </a:r>
              <a:endPara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6" name="Rectangle 19"/>
            <p:cNvSpPr>
              <a:spLocks noChangeArrowheads="1"/>
            </p:cNvSpPr>
            <p:nvPr/>
          </p:nvSpPr>
          <p:spPr bwMode="auto">
            <a:xfrm>
              <a:off x="898480" y="2322503"/>
              <a:ext cx="1007619" cy="1177936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7" name="AutoShape 164"/>
            <p:cNvSpPr>
              <a:spLocks noChangeArrowheads="1"/>
            </p:cNvSpPr>
            <p:nvPr/>
          </p:nvSpPr>
          <p:spPr bwMode="auto">
            <a:xfrm>
              <a:off x="964772" y="2357430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재고이동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8" name="AutoShape 164"/>
            <p:cNvSpPr>
              <a:spLocks noChangeArrowheads="1"/>
            </p:cNvSpPr>
            <p:nvPr/>
          </p:nvSpPr>
          <p:spPr bwMode="auto">
            <a:xfrm>
              <a:off x="969450" y="2643182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재고조정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39" name="AutoShape 164"/>
            <p:cNvSpPr>
              <a:spLocks noChangeArrowheads="1"/>
            </p:cNvSpPr>
            <p:nvPr/>
          </p:nvSpPr>
          <p:spPr bwMode="auto">
            <a:xfrm>
              <a:off x="965264" y="2928934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수불</a:t>
              </a: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/</a:t>
              </a: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재고내역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0" name="AutoShape 164"/>
            <p:cNvSpPr>
              <a:spLocks noChangeArrowheads="1"/>
            </p:cNvSpPr>
            <p:nvPr/>
          </p:nvSpPr>
          <p:spPr bwMode="auto">
            <a:xfrm>
              <a:off x="973973" y="3214686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출고관리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214941" y="2357430"/>
            <a:ext cx="1071570" cy="1500198"/>
            <a:chOff x="785786" y="2071678"/>
            <a:chExt cx="1214446" cy="1500198"/>
          </a:xfrm>
        </p:grpSpPr>
        <p:sp>
          <p:nvSpPr>
            <p:cNvPr id="42" name="Rectangle 25"/>
            <p:cNvSpPr>
              <a:spLocks noChangeArrowheads="1"/>
            </p:cNvSpPr>
            <p:nvPr/>
          </p:nvSpPr>
          <p:spPr bwMode="auto">
            <a:xfrm>
              <a:off x="785786" y="2071678"/>
              <a:ext cx="1214446" cy="1500198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6699"/>
                  </a:solidFill>
                  <a:effectLst/>
                  <a:uLnTx/>
                  <a:uFillTx/>
                  <a:latin typeface="+mn-ea"/>
                  <a:ea typeface="+mn-ea"/>
                </a:rPr>
                <a:t>고객관리</a:t>
              </a:r>
              <a:endPara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3" name="Rectangle 19"/>
            <p:cNvSpPr>
              <a:spLocks noChangeArrowheads="1"/>
            </p:cNvSpPr>
            <p:nvPr/>
          </p:nvSpPr>
          <p:spPr bwMode="auto">
            <a:xfrm>
              <a:off x="898480" y="2322503"/>
              <a:ext cx="1007619" cy="1177936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4" name="AutoShape 164"/>
            <p:cNvSpPr>
              <a:spLocks noChangeArrowheads="1"/>
            </p:cNvSpPr>
            <p:nvPr/>
          </p:nvSpPr>
          <p:spPr bwMode="auto">
            <a:xfrm>
              <a:off x="964772" y="2357430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멤버십관리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5" name="AutoShape 164"/>
            <p:cNvSpPr>
              <a:spLocks noChangeArrowheads="1"/>
            </p:cNvSpPr>
            <p:nvPr/>
          </p:nvSpPr>
          <p:spPr bwMode="auto">
            <a:xfrm>
              <a:off x="969450" y="2643182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쿠폰관리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6" name="AutoShape 164"/>
            <p:cNvSpPr>
              <a:spLocks noChangeArrowheads="1"/>
            </p:cNvSpPr>
            <p:nvPr/>
          </p:nvSpPr>
          <p:spPr bwMode="auto">
            <a:xfrm>
              <a:off x="965264" y="2928934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포인트관리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47" name="AutoShape 164"/>
            <p:cNvSpPr>
              <a:spLocks noChangeArrowheads="1"/>
            </p:cNvSpPr>
            <p:nvPr/>
          </p:nvSpPr>
          <p:spPr bwMode="auto">
            <a:xfrm>
              <a:off x="973973" y="3214686"/>
              <a:ext cx="861779" cy="21431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>
              <a:prstShdw prst="shdw18" dist="17961" dir="13500000">
                <a:srgbClr val="EAEAEA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+mn-ea"/>
                  <a:ea typeface="+mn-ea"/>
                </a:rPr>
                <a:t>캠페인관리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48" name="Rectangle 151"/>
          <p:cNvSpPr>
            <a:spLocks noChangeArrowheads="1"/>
          </p:cNvSpPr>
          <p:nvPr/>
        </p:nvSpPr>
        <p:spPr bwMode="auto">
          <a:xfrm>
            <a:off x="357157" y="3929066"/>
            <a:ext cx="5929354" cy="357190"/>
          </a:xfrm>
          <a:prstGeom prst="rect">
            <a:avLst/>
          </a:prstGeom>
          <a:gradFill rotWithShape="1">
            <a:gsLst>
              <a:gs pos="0">
                <a:srgbClr val="E3EDFA"/>
              </a:gs>
              <a:gs pos="100000">
                <a:srgbClr val="BFD7F3"/>
              </a:gs>
            </a:gsLst>
            <a:lin ang="2700000" scaled="1"/>
          </a:gradFill>
          <a:ln w="15875" algn="ctr">
            <a:noFill/>
            <a:miter lim="800000"/>
            <a:headEnd/>
            <a:tailEnd/>
          </a:ln>
          <a:effectLst>
            <a:prstShdw prst="shdw17" dist="17961" dir="13500000">
              <a:srgbClr val="738192"/>
            </a:prstShdw>
          </a:effectLst>
        </p:spPr>
        <p:txBody>
          <a:bodyPr lIns="90000" tIns="46800" rIns="90000" bIns="46800" anchor="ctr" anchorCtr="0"/>
          <a:lstStyle/>
          <a:p>
            <a:pPr algn="ctr"/>
            <a:r>
              <a:rPr kumimoji="0" lang="ko-KR" altLang="en-US" sz="1200" b="1" dirty="0" smtClean="0">
                <a:solidFill>
                  <a:srgbClr val="C00000"/>
                </a:solidFill>
                <a:latin typeface="+mn-ea"/>
                <a:ea typeface="+mn-ea"/>
              </a:rPr>
              <a:t>통계관리 </a:t>
            </a:r>
            <a:r>
              <a:rPr kumimoji="0" lang="en-US" altLang="ko-KR" sz="1200" b="1" dirty="0" smtClean="0">
                <a:solidFill>
                  <a:srgbClr val="C00000"/>
                </a:solidFill>
                <a:latin typeface="+mn-ea"/>
                <a:ea typeface="+mn-ea"/>
              </a:rPr>
              <a:t>/ </a:t>
            </a:r>
            <a:r>
              <a:rPr kumimoji="0" lang="ko-KR" altLang="en-US" sz="1200" b="1" dirty="0" smtClean="0">
                <a:solidFill>
                  <a:srgbClr val="C00000"/>
                </a:solidFill>
                <a:latin typeface="+mn-ea"/>
                <a:ea typeface="+mn-ea"/>
              </a:rPr>
              <a:t>보고서</a:t>
            </a:r>
            <a:r>
              <a:rPr kumimoji="0" lang="en-US" altLang="ko-KR" sz="1200" b="1" dirty="0" smtClean="0">
                <a:solidFill>
                  <a:srgbClr val="C00000"/>
                </a:solidFill>
                <a:latin typeface="+mn-ea"/>
                <a:ea typeface="+mn-ea"/>
              </a:rPr>
              <a:t>(Report) : </a:t>
            </a:r>
            <a:r>
              <a:rPr kumimoji="0" lang="ko-KR" altLang="en-US" sz="900" b="1" dirty="0" smtClean="0">
                <a:solidFill>
                  <a:srgbClr val="C00000"/>
                </a:solidFill>
                <a:latin typeface="+mn-ea"/>
                <a:ea typeface="+mn-ea"/>
              </a:rPr>
              <a:t>일별실적</a:t>
            </a:r>
            <a:r>
              <a:rPr kumimoji="0" lang="en-US" altLang="ko-KR" sz="900" b="1" dirty="0" smtClean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b="1" dirty="0" err="1" smtClean="0">
                <a:solidFill>
                  <a:srgbClr val="C00000"/>
                </a:solidFill>
                <a:latin typeface="+mn-ea"/>
                <a:ea typeface="+mn-ea"/>
              </a:rPr>
              <a:t>매입처별실적</a:t>
            </a:r>
            <a:r>
              <a:rPr kumimoji="0" lang="en-US" altLang="ko-KR" sz="900" b="1" dirty="0" smtClean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b="1" dirty="0" smtClean="0">
                <a:solidFill>
                  <a:srgbClr val="C00000"/>
                </a:solidFill>
                <a:latin typeface="+mn-ea"/>
                <a:ea typeface="+mn-ea"/>
              </a:rPr>
              <a:t>재고회전율</a:t>
            </a:r>
            <a:r>
              <a:rPr kumimoji="0" lang="en-US" altLang="ko-KR" sz="900" b="1" dirty="0" smtClean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b="1" dirty="0" smtClean="0">
                <a:solidFill>
                  <a:srgbClr val="C00000"/>
                </a:solidFill>
                <a:latin typeface="+mn-ea"/>
                <a:ea typeface="+mn-ea"/>
              </a:rPr>
              <a:t>채널별실적</a:t>
            </a:r>
            <a:endParaRPr kumimoji="0" lang="en-US" altLang="ko-KR" sz="9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142975" y="5572140"/>
            <a:ext cx="928694" cy="785818"/>
            <a:chOff x="571472" y="4929198"/>
            <a:chExt cx="1214446" cy="785818"/>
          </a:xfrm>
        </p:grpSpPr>
        <p:sp>
          <p:nvSpPr>
            <p:cNvPr id="50" name="Rectangle 215"/>
            <p:cNvSpPr>
              <a:spLocks noChangeArrowheads="1"/>
            </p:cNvSpPr>
            <p:nvPr/>
          </p:nvSpPr>
          <p:spPr bwMode="auto">
            <a:xfrm>
              <a:off x="571472" y="4929198"/>
              <a:ext cx="1214446" cy="785818"/>
            </a:xfrm>
            <a:prstGeom prst="rect">
              <a:avLst/>
            </a:prstGeom>
            <a:solidFill>
              <a:srgbClr val="DDDDDD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DDDDDD"/>
              </a:extrusionClr>
            </a:sp3d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grpSp>
          <p:nvGrpSpPr>
            <p:cNvPr id="51" name="그룹 50"/>
            <p:cNvGrpSpPr/>
            <p:nvPr/>
          </p:nvGrpSpPr>
          <p:grpSpPr>
            <a:xfrm>
              <a:off x="642910" y="5214950"/>
              <a:ext cx="814388" cy="372485"/>
              <a:chOff x="5989647" y="4968884"/>
              <a:chExt cx="814388" cy="372485"/>
            </a:xfrm>
          </p:grpSpPr>
          <p:sp>
            <p:nvSpPr>
              <p:cNvPr id="53" name="Rectangle 194"/>
              <p:cNvSpPr>
                <a:spLocks noChangeArrowheads="1"/>
              </p:cNvSpPr>
              <p:nvPr/>
            </p:nvSpPr>
            <p:spPr bwMode="auto">
              <a:xfrm>
                <a:off x="6016635" y="4968884"/>
                <a:ext cx="787400" cy="358775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pic>
            <p:nvPicPr>
              <p:cNvPr id="54" name="Picture 172" descr="Icon_RichClient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391285" y="4975234"/>
                <a:ext cx="352425" cy="352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5" name="Text Box 175"/>
              <p:cNvSpPr txBox="1">
                <a:spLocks noChangeArrowheads="1"/>
              </p:cNvSpPr>
              <p:nvPr/>
            </p:nvSpPr>
            <p:spPr bwMode="auto">
              <a:xfrm>
                <a:off x="5989647" y="5000634"/>
                <a:ext cx="484726" cy="34073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rPr>
                  <a:t>Client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kern="0" dirty="0" smtClean="0">
                    <a:solidFill>
                      <a:sysClr val="windowText" lastClr="000000"/>
                    </a:solidFill>
                    <a:latin typeface="+mn-ea"/>
                    <a:ea typeface="+mn-ea"/>
                  </a:rPr>
                  <a:t>#1</a:t>
                </a:r>
                <a:endPara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52" name="Text Box 163"/>
            <p:cNvSpPr txBox="1">
              <a:spLocks noChangeArrowheads="1"/>
            </p:cNvSpPr>
            <p:nvPr/>
          </p:nvSpPr>
          <p:spPr bwMode="auto">
            <a:xfrm>
              <a:off x="642910" y="4946616"/>
              <a:ext cx="1071570" cy="217625"/>
            </a:xfrm>
            <a:prstGeom prst="rect">
              <a:avLst/>
            </a:prstGeom>
            <a:solidFill>
              <a:sysClr val="window" lastClr="FFFFFF">
                <a:alpha val="70195"/>
              </a:sysClr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800" b="1" i="0" u="none" strike="noStrike" kern="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 POS(</a:t>
              </a:r>
              <a:r>
                <a:rPr kumimoji="0" lang="ko-KR" altLang="en-US" sz="800" b="1" i="0" u="none" strike="noStrike" kern="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매장</a:t>
              </a:r>
              <a:r>
                <a:rPr kumimoji="0" lang="en-US" altLang="ko-KR" sz="800" b="1" i="0" u="none" strike="noStrike" kern="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)</a:t>
              </a:r>
              <a:endParaRPr kumimoji="0" lang="en-US" altLang="ko-K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2285983" y="5572140"/>
            <a:ext cx="928694" cy="785818"/>
            <a:chOff x="571472" y="4929198"/>
            <a:chExt cx="1214446" cy="785818"/>
          </a:xfrm>
        </p:grpSpPr>
        <p:sp>
          <p:nvSpPr>
            <p:cNvPr id="57" name="Rectangle 215"/>
            <p:cNvSpPr>
              <a:spLocks noChangeArrowheads="1"/>
            </p:cNvSpPr>
            <p:nvPr/>
          </p:nvSpPr>
          <p:spPr bwMode="auto">
            <a:xfrm>
              <a:off x="571472" y="4929198"/>
              <a:ext cx="1214446" cy="785818"/>
            </a:xfrm>
            <a:prstGeom prst="rect">
              <a:avLst/>
            </a:prstGeom>
            <a:solidFill>
              <a:srgbClr val="DDDDDD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DDDDDD"/>
              </a:extrusionClr>
            </a:sp3d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grpSp>
          <p:nvGrpSpPr>
            <p:cNvPr id="58" name="그룹 402"/>
            <p:cNvGrpSpPr/>
            <p:nvPr/>
          </p:nvGrpSpPr>
          <p:grpSpPr>
            <a:xfrm>
              <a:off x="642910" y="5214950"/>
              <a:ext cx="814388" cy="372485"/>
              <a:chOff x="5989647" y="4968884"/>
              <a:chExt cx="814388" cy="372485"/>
            </a:xfrm>
          </p:grpSpPr>
          <p:sp>
            <p:nvSpPr>
              <p:cNvPr id="60" name="Rectangle 194"/>
              <p:cNvSpPr>
                <a:spLocks noChangeArrowheads="1"/>
              </p:cNvSpPr>
              <p:nvPr/>
            </p:nvSpPr>
            <p:spPr bwMode="auto">
              <a:xfrm>
                <a:off x="6016635" y="4968884"/>
                <a:ext cx="787400" cy="358775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pic>
            <p:nvPicPr>
              <p:cNvPr id="61" name="Picture 172" descr="Icon_RichClient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391285" y="4975234"/>
                <a:ext cx="352425" cy="352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2" name="Text Box 175"/>
              <p:cNvSpPr txBox="1">
                <a:spLocks noChangeArrowheads="1"/>
              </p:cNvSpPr>
              <p:nvPr/>
            </p:nvSpPr>
            <p:spPr bwMode="auto">
              <a:xfrm>
                <a:off x="5989647" y="5000634"/>
                <a:ext cx="484726" cy="34073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rPr>
                  <a:t>Client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kern="0" dirty="0" smtClean="0">
                    <a:solidFill>
                      <a:sysClr val="windowText" lastClr="000000"/>
                    </a:solidFill>
                    <a:latin typeface="+mn-ea"/>
                    <a:ea typeface="+mn-ea"/>
                  </a:rPr>
                  <a:t>#1</a:t>
                </a:r>
                <a:endPara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59" name="Text Box 163"/>
            <p:cNvSpPr txBox="1">
              <a:spLocks noChangeArrowheads="1"/>
            </p:cNvSpPr>
            <p:nvPr/>
          </p:nvSpPr>
          <p:spPr bwMode="auto">
            <a:xfrm>
              <a:off x="642910" y="4946616"/>
              <a:ext cx="1071570" cy="217625"/>
            </a:xfrm>
            <a:prstGeom prst="rect">
              <a:avLst/>
            </a:prstGeom>
            <a:solidFill>
              <a:sysClr val="window" lastClr="FFFFFF">
                <a:alpha val="70195"/>
              </a:sysClr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내부사용자</a:t>
              </a:r>
              <a:endParaRPr kumimoji="0" lang="en-US" altLang="ko-K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3428991" y="5572140"/>
            <a:ext cx="928694" cy="785818"/>
            <a:chOff x="571472" y="4929198"/>
            <a:chExt cx="1214446" cy="785818"/>
          </a:xfrm>
        </p:grpSpPr>
        <p:sp>
          <p:nvSpPr>
            <p:cNvPr id="64" name="Rectangle 215"/>
            <p:cNvSpPr>
              <a:spLocks noChangeArrowheads="1"/>
            </p:cNvSpPr>
            <p:nvPr/>
          </p:nvSpPr>
          <p:spPr bwMode="auto">
            <a:xfrm>
              <a:off x="571472" y="4929198"/>
              <a:ext cx="1214446" cy="785818"/>
            </a:xfrm>
            <a:prstGeom prst="rect">
              <a:avLst/>
            </a:prstGeom>
            <a:solidFill>
              <a:srgbClr val="DDDDDD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DDDDDD"/>
              </a:extrusionClr>
            </a:sp3d>
          </p:spPr>
          <p:txBody>
            <a:bodyPr wrap="none" anchor="ctr">
              <a:flatTx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grpSp>
          <p:nvGrpSpPr>
            <p:cNvPr id="65" name="그룹 402"/>
            <p:cNvGrpSpPr/>
            <p:nvPr/>
          </p:nvGrpSpPr>
          <p:grpSpPr>
            <a:xfrm>
              <a:off x="642910" y="5214950"/>
              <a:ext cx="814388" cy="372485"/>
              <a:chOff x="5989647" y="4968884"/>
              <a:chExt cx="814388" cy="372485"/>
            </a:xfrm>
          </p:grpSpPr>
          <p:sp>
            <p:nvSpPr>
              <p:cNvPr id="67" name="Rectangle 194"/>
              <p:cNvSpPr>
                <a:spLocks noChangeArrowheads="1"/>
              </p:cNvSpPr>
              <p:nvPr/>
            </p:nvSpPr>
            <p:spPr bwMode="auto">
              <a:xfrm>
                <a:off x="6016635" y="4968884"/>
                <a:ext cx="787400" cy="358775"/>
              </a:xfrm>
              <a:prstGeom prst="rect">
                <a:avLst/>
              </a:prstGeom>
              <a:solidFill>
                <a:srgbClr val="F8F8F8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pic>
            <p:nvPicPr>
              <p:cNvPr id="68" name="Picture 172" descr="Icon_RichClient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391285" y="4975234"/>
                <a:ext cx="352425" cy="3524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9" name="Text Box 175"/>
              <p:cNvSpPr txBox="1">
                <a:spLocks noChangeArrowheads="1"/>
              </p:cNvSpPr>
              <p:nvPr/>
            </p:nvSpPr>
            <p:spPr bwMode="auto">
              <a:xfrm>
                <a:off x="5989647" y="5000634"/>
                <a:ext cx="484726" cy="34073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rPr>
                  <a:t>Client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kern="0" dirty="0" smtClean="0">
                    <a:solidFill>
                      <a:sysClr val="windowText" lastClr="000000"/>
                    </a:solidFill>
                    <a:latin typeface="+mn-ea"/>
                    <a:ea typeface="+mn-ea"/>
                  </a:rPr>
                  <a:t>#1</a:t>
                </a:r>
                <a:endPara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66" name="Text Box 163"/>
            <p:cNvSpPr txBox="1">
              <a:spLocks noChangeArrowheads="1"/>
            </p:cNvSpPr>
            <p:nvPr/>
          </p:nvSpPr>
          <p:spPr bwMode="auto">
            <a:xfrm>
              <a:off x="642910" y="4946616"/>
              <a:ext cx="1071570" cy="217625"/>
            </a:xfrm>
            <a:prstGeom prst="rect">
              <a:avLst/>
            </a:prstGeom>
            <a:solidFill>
              <a:sysClr val="window" lastClr="FFFFFF">
                <a:alpha val="70195"/>
              </a:sysClr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ko-KR" altLang="en-US" sz="800" b="1" kern="0" dirty="0" smtClean="0">
                  <a:solidFill>
                    <a:srgbClr val="C00000"/>
                  </a:solidFill>
                  <a:latin typeface="+mn-ea"/>
                  <a:ea typeface="+mn-ea"/>
                </a:rPr>
                <a:t>매입처사용자</a:t>
              </a:r>
              <a:endParaRPr kumimoji="0" lang="en-US" altLang="ko-K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70" name="Freeform 46"/>
          <p:cNvSpPr>
            <a:spLocks/>
          </p:cNvSpPr>
          <p:nvPr/>
        </p:nvSpPr>
        <p:spPr bwMode="auto">
          <a:xfrm>
            <a:off x="142844" y="4714884"/>
            <a:ext cx="6786610" cy="50006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146" y="353"/>
              </a:cxn>
              <a:cxn ang="0">
                <a:pos x="2582" y="355"/>
              </a:cxn>
              <a:cxn ang="0">
                <a:pos x="4785" y="0"/>
              </a:cxn>
            </a:cxnLst>
            <a:rect l="0" t="0" r="r" b="b"/>
            <a:pathLst>
              <a:path w="4785" h="355">
                <a:moveTo>
                  <a:pt x="0" y="0"/>
                </a:moveTo>
                <a:lnTo>
                  <a:pt x="1146" y="353"/>
                </a:lnTo>
                <a:lnTo>
                  <a:pt x="2582" y="355"/>
                </a:lnTo>
                <a:lnTo>
                  <a:pt x="4785" y="0"/>
                </a:lnTo>
              </a:path>
            </a:pathLst>
          </a:custGeom>
          <a:gradFill rotWithShape="1">
            <a:gsLst>
              <a:gs pos="0">
                <a:schemeClr val="bg2">
                  <a:gamma/>
                  <a:tint val="50980"/>
                  <a:invGamma/>
                </a:schemeClr>
              </a:gs>
              <a:gs pos="100000">
                <a:schemeClr val="bg2"/>
              </a:gs>
            </a:gsLst>
            <a:lin ang="5400000" scaled="1"/>
          </a:gradFill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산돌고딕 L" pitchFamily="18" charset="-127"/>
              <a:ea typeface="산돌고딕 L" pitchFamily="18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6786578" y="1000108"/>
            <a:ext cx="2247903" cy="1071570"/>
            <a:chOff x="6786578" y="1643050"/>
            <a:chExt cx="2247903" cy="1071570"/>
          </a:xfrm>
        </p:grpSpPr>
        <p:sp>
          <p:nvSpPr>
            <p:cNvPr id="72" name="Rectangle 26"/>
            <p:cNvSpPr>
              <a:spLocks noChangeArrowheads="1"/>
            </p:cNvSpPr>
            <p:nvPr/>
          </p:nvSpPr>
          <p:spPr bwMode="auto">
            <a:xfrm>
              <a:off x="7215206" y="1643050"/>
              <a:ext cx="1819275" cy="1071570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SAP</a:t>
              </a:r>
            </a:p>
          </p:txBody>
        </p:sp>
        <p:sp>
          <p:nvSpPr>
            <p:cNvPr id="73" name="Rectangle 43"/>
            <p:cNvSpPr>
              <a:spLocks noChangeArrowheads="1"/>
            </p:cNvSpPr>
            <p:nvPr/>
          </p:nvSpPr>
          <p:spPr bwMode="auto">
            <a:xfrm>
              <a:off x="7350144" y="1893875"/>
              <a:ext cx="1563687" cy="749307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800" b="0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7429520" y="2071678"/>
              <a:ext cx="500066" cy="357190"/>
              <a:chOff x="4790" y="2568"/>
              <a:chExt cx="267" cy="187"/>
            </a:xfrm>
          </p:grpSpPr>
          <p:grpSp>
            <p:nvGrpSpPr>
              <p:cNvPr id="79" name="Group 59"/>
              <p:cNvGrpSpPr>
                <a:grpSpLocks/>
              </p:cNvGrpSpPr>
              <p:nvPr/>
            </p:nvGrpSpPr>
            <p:grpSpPr bwMode="auto">
              <a:xfrm>
                <a:off x="4790" y="2568"/>
                <a:ext cx="267" cy="187"/>
                <a:chOff x="4790" y="2568"/>
                <a:chExt cx="267" cy="187"/>
              </a:xfrm>
            </p:grpSpPr>
            <p:sp>
              <p:nvSpPr>
                <p:cNvPr id="83" name="Rectangle 60"/>
                <p:cNvSpPr>
                  <a:spLocks noChangeArrowheads="1"/>
                </p:cNvSpPr>
                <p:nvPr/>
              </p:nvSpPr>
              <p:spPr bwMode="auto">
                <a:xfrm>
                  <a:off x="4832" y="2568"/>
                  <a:ext cx="225" cy="187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84" name="Rectangle 61"/>
                <p:cNvSpPr>
                  <a:spLocks noChangeArrowheads="1"/>
                </p:cNvSpPr>
                <p:nvPr/>
              </p:nvSpPr>
              <p:spPr bwMode="auto">
                <a:xfrm>
                  <a:off x="4790" y="2585"/>
                  <a:ext cx="83" cy="44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85" name="Rectangle 62"/>
                <p:cNvSpPr>
                  <a:spLocks noChangeArrowheads="1"/>
                </p:cNvSpPr>
                <p:nvPr/>
              </p:nvSpPr>
              <p:spPr bwMode="auto">
                <a:xfrm>
                  <a:off x="4790" y="2643"/>
                  <a:ext cx="83" cy="44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0" name="AutoShape 63"/>
              <p:cNvSpPr>
                <a:spLocks noChangeArrowheads="1"/>
              </p:cNvSpPr>
              <p:nvPr/>
            </p:nvSpPr>
            <p:spPr bwMode="auto">
              <a:xfrm>
                <a:off x="4888" y="2586"/>
                <a:ext cx="75" cy="65"/>
              </a:xfrm>
              <a:prstGeom prst="hexagon">
                <a:avLst>
                  <a:gd name="adj" fmla="val 28846"/>
                  <a:gd name="vf" fmla="val 115470"/>
                </a:avLst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81" name="AutoShape 64"/>
              <p:cNvSpPr>
                <a:spLocks noChangeArrowheads="1"/>
              </p:cNvSpPr>
              <p:nvPr/>
            </p:nvSpPr>
            <p:spPr bwMode="auto">
              <a:xfrm>
                <a:off x="4876" y="2667"/>
                <a:ext cx="74" cy="71"/>
              </a:xfrm>
              <a:prstGeom prst="pentagon">
                <a:avLst/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82" name="AutoShape 65"/>
              <p:cNvSpPr>
                <a:spLocks noChangeArrowheads="1"/>
              </p:cNvSpPr>
              <p:nvPr/>
            </p:nvSpPr>
            <p:spPr bwMode="auto">
              <a:xfrm>
                <a:off x="4958" y="2626"/>
                <a:ext cx="75" cy="66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75" name="왼쪽/오른쪽 화살표 74"/>
            <p:cNvSpPr/>
            <p:nvPr/>
          </p:nvSpPr>
          <p:spPr>
            <a:xfrm>
              <a:off x="6786578" y="2071678"/>
              <a:ext cx="571504" cy="357190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 Box 168"/>
            <p:cNvSpPr txBox="1">
              <a:spLocks noChangeArrowheads="1"/>
            </p:cNvSpPr>
            <p:nvPr/>
          </p:nvSpPr>
          <p:spPr bwMode="auto">
            <a:xfrm>
              <a:off x="6816554" y="2071678"/>
              <a:ext cx="612966" cy="340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</a:rPr>
                <a:t>JCO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</a:rPr>
                <a:t>Interface</a:t>
              </a:r>
            </a:p>
          </p:txBody>
        </p:sp>
        <p:sp>
          <p:nvSpPr>
            <p:cNvPr id="77" name="Line 170"/>
            <p:cNvSpPr>
              <a:spLocks noChangeShapeType="1"/>
            </p:cNvSpPr>
            <p:nvPr/>
          </p:nvSpPr>
          <p:spPr bwMode="auto">
            <a:xfrm>
              <a:off x="8072462" y="2000240"/>
              <a:ext cx="0" cy="540000"/>
            </a:xfrm>
            <a:prstGeom prst="line">
              <a:avLst/>
            </a:prstGeom>
            <a:noFill/>
            <a:ln w="9525">
              <a:solidFill>
                <a:sysClr val="window" lastClr="FFFFFF"/>
              </a:solidFill>
              <a:prstDash val="dash"/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78" name="AutoShape 153"/>
            <p:cNvSpPr>
              <a:spLocks noChangeArrowheads="1"/>
            </p:cNvSpPr>
            <p:nvPr/>
          </p:nvSpPr>
          <p:spPr bwMode="auto">
            <a:xfrm>
              <a:off x="8218516" y="2071678"/>
              <a:ext cx="568326" cy="357190"/>
            </a:xfrm>
            <a:prstGeom prst="can">
              <a:avLst>
                <a:gd name="adj" fmla="val 17648"/>
              </a:avLst>
            </a:prstGeom>
            <a:gradFill rotWithShape="1">
              <a:gsLst>
                <a:gs pos="0">
                  <a:srgbClr val="A5A585"/>
                </a:gs>
                <a:gs pos="100000">
                  <a:srgbClr val="8E8E73"/>
                </a:gs>
              </a:gsLst>
              <a:lin ang="27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700" b="0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6786578" y="2214554"/>
            <a:ext cx="2247903" cy="1071570"/>
            <a:chOff x="6786578" y="1643050"/>
            <a:chExt cx="2247903" cy="1071570"/>
          </a:xfrm>
        </p:grpSpPr>
        <p:sp>
          <p:nvSpPr>
            <p:cNvPr id="87" name="Rectangle 26"/>
            <p:cNvSpPr>
              <a:spLocks noChangeArrowheads="1"/>
            </p:cNvSpPr>
            <p:nvPr/>
          </p:nvSpPr>
          <p:spPr bwMode="auto">
            <a:xfrm>
              <a:off x="7215206" y="1643050"/>
              <a:ext cx="1819275" cy="1071570"/>
            </a:xfrm>
            <a:prstGeom prst="rect">
              <a:avLst/>
            </a:prstGeom>
            <a:gradFill rotWithShape="1">
              <a:gsLst>
                <a:gs pos="0">
                  <a:srgbClr val="E3EDFA"/>
                </a:gs>
                <a:gs pos="100000">
                  <a:srgbClr val="BFD7F3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13500000">
                <a:srgbClr val="738192"/>
              </a:prstShdw>
            </a:effectLst>
          </p:spPr>
          <p:txBody>
            <a:bodyPr lIns="90000" tIns="46800" rIns="90000" bIns="4680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ea"/>
                  <a:ea typeface="+mn-ea"/>
                </a:rPr>
                <a:t>SMS Service</a:t>
              </a:r>
            </a:p>
          </p:txBody>
        </p:sp>
        <p:sp>
          <p:nvSpPr>
            <p:cNvPr id="88" name="Rectangle 43"/>
            <p:cNvSpPr>
              <a:spLocks noChangeArrowheads="1"/>
            </p:cNvSpPr>
            <p:nvPr/>
          </p:nvSpPr>
          <p:spPr bwMode="auto">
            <a:xfrm>
              <a:off x="7350144" y="1893875"/>
              <a:ext cx="1563687" cy="749307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rgbClr val="4E74C2"/>
                </a:gs>
              </a:gsLst>
              <a:lin ang="2700000" scaled="1"/>
            </a:gradFill>
            <a:ln w="158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3D5C99"/>
              </a:prstShdw>
            </a:effectLst>
          </p:spPr>
          <p:txBody>
            <a:bodyPr lIns="90000" tIns="46800" rIns="90000" bIns="46800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800" b="0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grpSp>
          <p:nvGrpSpPr>
            <p:cNvPr id="89" name="Group 58"/>
            <p:cNvGrpSpPr>
              <a:grpSpLocks/>
            </p:cNvGrpSpPr>
            <p:nvPr/>
          </p:nvGrpSpPr>
          <p:grpSpPr bwMode="auto">
            <a:xfrm>
              <a:off x="7429520" y="2071678"/>
              <a:ext cx="500066" cy="357190"/>
              <a:chOff x="4790" y="2568"/>
              <a:chExt cx="267" cy="187"/>
            </a:xfrm>
          </p:grpSpPr>
          <p:grpSp>
            <p:nvGrpSpPr>
              <p:cNvPr id="94" name="Group 59"/>
              <p:cNvGrpSpPr>
                <a:grpSpLocks/>
              </p:cNvGrpSpPr>
              <p:nvPr/>
            </p:nvGrpSpPr>
            <p:grpSpPr bwMode="auto">
              <a:xfrm>
                <a:off x="4790" y="2568"/>
                <a:ext cx="267" cy="187"/>
                <a:chOff x="4790" y="2568"/>
                <a:chExt cx="267" cy="187"/>
              </a:xfrm>
            </p:grpSpPr>
            <p:sp>
              <p:nvSpPr>
                <p:cNvPr id="98" name="Rectangle 60"/>
                <p:cNvSpPr>
                  <a:spLocks noChangeArrowheads="1"/>
                </p:cNvSpPr>
                <p:nvPr/>
              </p:nvSpPr>
              <p:spPr bwMode="auto">
                <a:xfrm>
                  <a:off x="4832" y="2568"/>
                  <a:ext cx="225" cy="187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99" name="Rectangle 61"/>
                <p:cNvSpPr>
                  <a:spLocks noChangeArrowheads="1"/>
                </p:cNvSpPr>
                <p:nvPr/>
              </p:nvSpPr>
              <p:spPr bwMode="auto">
                <a:xfrm>
                  <a:off x="4790" y="2585"/>
                  <a:ext cx="83" cy="44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100" name="Rectangle 62"/>
                <p:cNvSpPr>
                  <a:spLocks noChangeArrowheads="1"/>
                </p:cNvSpPr>
                <p:nvPr/>
              </p:nvSpPr>
              <p:spPr bwMode="auto">
                <a:xfrm>
                  <a:off x="4790" y="2643"/>
                  <a:ext cx="83" cy="44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ko-KR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5" name="AutoShape 63"/>
              <p:cNvSpPr>
                <a:spLocks noChangeArrowheads="1"/>
              </p:cNvSpPr>
              <p:nvPr/>
            </p:nvSpPr>
            <p:spPr bwMode="auto">
              <a:xfrm>
                <a:off x="4888" y="2586"/>
                <a:ext cx="75" cy="65"/>
              </a:xfrm>
              <a:prstGeom prst="hexagon">
                <a:avLst>
                  <a:gd name="adj" fmla="val 28846"/>
                  <a:gd name="vf" fmla="val 115470"/>
                </a:avLst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96" name="AutoShape 64"/>
              <p:cNvSpPr>
                <a:spLocks noChangeArrowheads="1"/>
              </p:cNvSpPr>
              <p:nvPr/>
            </p:nvSpPr>
            <p:spPr bwMode="auto">
              <a:xfrm>
                <a:off x="4876" y="2667"/>
                <a:ext cx="74" cy="71"/>
              </a:xfrm>
              <a:prstGeom prst="pentagon">
                <a:avLst/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97" name="AutoShape 65"/>
              <p:cNvSpPr>
                <a:spLocks noChangeArrowheads="1"/>
              </p:cNvSpPr>
              <p:nvPr/>
            </p:nvSpPr>
            <p:spPr bwMode="auto">
              <a:xfrm>
                <a:off x="4958" y="2626"/>
                <a:ext cx="75" cy="66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90" name="왼쪽/오른쪽 화살표 89"/>
            <p:cNvSpPr/>
            <p:nvPr/>
          </p:nvSpPr>
          <p:spPr>
            <a:xfrm>
              <a:off x="6786578" y="2071678"/>
              <a:ext cx="571504" cy="357190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 Box 168"/>
            <p:cNvSpPr txBox="1">
              <a:spLocks noChangeArrowheads="1"/>
            </p:cNvSpPr>
            <p:nvPr/>
          </p:nvSpPr>
          <p:spPr bwMode="auto">
            <a:xfrm>
              <a:off x="6858016" y="2141350"/>
              <a:ext cx="380531" cy="217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+mn-ea"/>
                  <a:ea typeface="+mn-ea"/>
                </a:rPr>
                <a:t>RMI</a:t>
              </a:r>
            </a:p>
          </p:txBody>
        </p:sp>
        <p:sp>
          <p:nvSpPr>
            <p:cNvPr id="92" name="Line 170"/>
            <p:cNvSpPr>
              <a:spLocks noChangeShapeType="1"/>
            </p:cNvSpPr>
            <p:nvPr/>
          </p:nvSpPr>
          <p:spPr bwMode="auto">
            <a:xfrm>
              <a:off x="8072462" y="2000240"/>
              <a:ext cx="0" cy="540000"/>
            </a:xfrm>
            <a:prstGeom prst="line">
              <a:avLst/>
            </a:prstGeom>
            <a:noFill/>
            <a:ln w="9525">
              <a:solidFill>
                <a:sysClr val="window" lastClr="FFFFFF"/>
              </a:solidFill>
              <a:prstDash val="dash"/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3" name="AutoShape 153"/>
            <p:cNvSpPr>
              <a:spLocks noChangeArrowheads="1"/>
            </p:cNvSpPr>
            <p:nvPr/>
          </p:nvSpPr>
          <p:spPr bwMode="auto">
            <a:xfrm>
              <a:off x="8218516" y="2071678"/>
              <a:ext cx="568326" cy="357190"/>
            </a:xfrm>
            <a:prstGeom prst="can">
              <a:avLst>
                <a:gd name="adj" fmla="val 17648"/>
              </a:avLst>
            </a:prstGeom>
            <a:gradFill rotWithShape="1">
              <a:gsLst>
                <a:gs pos="0">
                  <a:srgbClr val="A5A585"/>
                </a:gs>
                <a:gs pos="100000">
                  <a:srgbClr val="8E8E73"/>
                </a:gs>
              </a:gsLst>
              <a:lin ang="27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700" b="0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01" name="Rectangle 26"/>
          <p:cNvSpPr>
            <a:spLocks noChangeArrowheads="1"/>
          </p:cNvSpPr>
          <p:nvPr/>
        </p:nvSpPr>
        <p:spPr bwMode="auto">
          <a:xfrm>
            <a:off x="7215206" y="3357562"/>
            <a:ext cx="1819275" cy="1071570"/>
          </a:xfrm>
          <a:prstGeom prst="rect">
            <a:avLst/>
          </a:prstGeom>
          <a:gradFill rotWithShape="1">
            <a:gsLst>
              <a:gs pos="0">
                <a:srgbClr val="E3EDFA"/>
              </a:gs>
              <a:gs pos="100000">
                <a:srgbClr val="BFD7F3"/>
              </a:gs>
            </a:gsLst>
            <a:lin ang="2700000" scaled="1"/>
          </a:gradFill>
          <a:ln w="15875" algn="ctr">
            <a:noFill/>
            <a:miter lim="800000"/>
            <a:headEnd/>
            <a:tailEnd/>
          </a:ln>
          <a:effectLst>
            <a:prstShdw prst="shdw17" dist="17961" dir="13500000">
              <a:srgbClr val="738192"/>
            </a:prstShdw>
          </a:effectLst>
        </p:spPr>
        <p:txBody>
          <a:bodyPr lIns="90000" tIns="46800" rIns="90000" bIns="468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kern="0" dirty="0" smtClean="0">
                <a:solidFill>
                  <a:srgbClr val="C00000"/>
                </a:solidFill>
                <a:latin typeface="+mn-ea"/>
                <a:ea typeface="+mn-ea"/>
              </a:rPr>
              <a:t>CJ </a:t>
            </a:r>
            <a:r>
              <a:rPr kumimoji="0" lang="ko-KR" altLang="en-US" sz="1100" b="1" kern="0" dirty="0" smtClean="0">
                <a:solidFill>
                  <a:srgbClr val="C00000"/>
                </a:solidFill>
                <a:latin typeface="+mn-ea"/>
                <a:ea typeface="+mn-ea"/>
              </a:rPr>
              <a:t>택배</a:t>
            </a:r>
            <a:endParaRPr kumimoji="0" lang="en-US" altLang="ko-KR" sz="11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2" name="Rectangle 43"/>
          <p:cNvSpPr>
            <a:spLocks noChangeArrowheads="1"/>
          </p:cNvSpPr>
          <p:nvPr/>
        </p:nvSpPr>
        <p:spPr bwMode="auto">
          <a:xfrm>
            <a:off x="7350144" y="3608387"/>
            <a:ext cx="1579574" cy="749307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4E74C2"/>
              </a:gs>
            </a:gsLst>
            <a:lin ang="2700000" scaled="1"/>
          </a:gradFill>
          <a:ln w="15875" algn="ctr">
            <a:noFill/>
            <a:miter lim="800000"/>
            <a:headEnd/>
            <a:tailEnd/>
          </a:ln>
          <a:effectLst>
            <a:prstShdw prst="shdw17" dist="17961" dir="2700000">
              <a:srgbClr val="3D5C99"/>
            </a:prstShdw>
          </a:effectLst>
        </p:spPr>
        <p:txBody>
          <a:bodyPr lIns="90000" tIns="46800" rIns="90000" bIns="46800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3" name="왼쪽/오른쪽 화살표 102"/>
          <p:cNvSpPr/>
          <p:nvPr/>
        </p:nvSpPr>
        <p:spPr>
          <a:xfrm>
            <a:off x="6786578" y="3786190"/>
            <a:ext cx="571504" cy="357190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 Box 168"/>
          <p:cNvSpPr txBox="1">
            <a:spLocks noChangeArrowheads="1"/>
          </p:cNvSpPr>
          <p:nvPr/>
        </p:nvSpPr>
        <p:spPr bwMode="auto">
          <a:xfrm>
            <a:off x="6775785" y="3854317"/>
            <a:ext cx="645026" cy="2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kern="0" dirty="0" smtClean="0">
                <a:latin typeface="+mn-ea"/>
                <a:ea typeface="+mn-ea"/>
              </a:rPr>
              <a:t>DB to DB</a:t>
            </a:r>
          </a:p>
        </p:txBody>
      </p:sp>
      <p:sp>
        <p:nvSpPr>
          <p:cNvPr id="105" name="AutoShape 153"/>
          <p:cNvSpPr>
            <a:spLocks noChangeArrowheads="1"/>
          </p:cNvSpPr>
          <p:nvPr/>
        </p:nvSpPr>
        <p:spPr bwMode="auto">
          <a:xfrm>
            <a:off x="7861326" y="3786190"/>
            <a:ext cx="568326" cy="357190"/>
          </a:xfrm>
          <a:prstGeom prst="can">
            <a:avLst>
              <a:gd name="adj" fmla="val 17648"/>
            </a:avLst>
          </a:prstGeom>
          <a:gradFill rotWithShape="1">
            <a:gsLst>
              <a:gs pos="0">
                <a:srgbClr val="A5A585"/>
              </a:gs>
              <a:gs pos="100000">
                <a:srgbClr val="8E8E73"/>
              </a:gs>
            </a:gsLst>
            <a:lin ang="2700000" scaled="1"/>
          </a:gradFill>
          <a:ln w="9525">
            <a:solidFill>
              <a:sysClr val="window" lastClr="FFFFFF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7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6" name="Rectangle 26"/>
          <p:cNvSpPr>
            <a:spLocks noChangeArrowheads="1"/>
          </p:cNvSpPr>
          <p:nvPr/>
        </p:nvSpPr>
        <p:spPr bwMode="auto">
          <a:xfrm>
            <a:off x="7215206" y="4572008"/>
            <a:ext cx="1819275" cy="1071570"/>
          </a:xfrm>
          <a:prstGeom prst="rect">
            <a:avLst/>
          </a:prstGeom>
          <a:gradFill rotWithShape="1">
            <a:gsLst>
              <a:gs pos="0">
                <a:srgbClr val="E3EDFA"/>
              </a:gs>
              <a:gs pos="100000">
                <a:srgbClr val="BFD7F3"/>
              </a:gs>
            </a:gsLst>
            <a:lin ang="2700000" scaled="1"/>
          </a:gradFill>
          <a:ln w="15875" algn="ctr">
            <a:noFill/>
            <a:miter lim="800000"/>
            <a:headEnd/>
            <a:tailEnd/>
          </a:ln>
          <a:effectLst>
            <a:prstShdw prst="shdw17" dist="17961" dir="13500000">
              <a:srgbClr val="738192"/>
            </a:prstShdw>
          </a:effectLst>
        </p:spPr>
        <p:txBody>
          <a:bodyPr lIns="90000" tIns="46800" rIns="90000" bIns="4680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</a:rPr>
              <a:t>전자세금계산서</a:t>
            </a:r>
            <a:endParaRPr kumimoji="0" lang="en-US" altLang="ko-KR" sz="1100" b="1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7" name="Rectangle 43"/>
          <p:cNvSpPr>
            <a:spLocks noChangeArrowheads="1"/>
          </p:cNvSpPr>
          <p:nvPr/>
        </p:nvSpPr>
        <p:spPr bwMode="auto">
          <a:xfrm>
            <a:off x="7350144" y="4822833"/>
            <a:ext cx="1563687" cy="749307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4E74C2"/>
              </a:gs>
            </a:gsLst>
            <a:lin ang="2700000" scaled="1"/>
          </a:gradFill>
          <a:ln w="15875" algn="ctr">
            <a:noFill/>
            <a:miter lim="800000"/>
            <a:headEnd/>
            <a:tailEnd/>
          </a:ln>
          <a:effectLst>
            <a:prstShdw prst="shdw17" dist="17961" dir="2700000">
              <a:srgbClr val="3D5C99"/>
            </a:prstShdw>
          </a:effectLst>
        </p:spPr>
        <p:txBody>
          <a:bodyPr lIns="90000" tIns="46800" rIns="90000" bIns="46800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08" name="Group 58"/>
          <p:cNvGrpSpPr>
            <a:grpSpLocks/>
          </p:cNvGrpSpPr>
          <p:nvPr/>
        </p:nvGrpSpPr>
        <p:grpSpPr bwMode="auto">
          <a:xfrm>
            <a:off x="7429520" y="5000636"/>
            <a:ext cx="500066" cy="357190"/>
            <a:chOff x="4790" y="2568"/>
            <a:chExt cx="267" cy="187"/>
          </a:xfrm>
        </p:grpSpPr>
        <p:grpSp>
          <p:nvGrpSpPr>
            <p:cNvPr id="109" name="Group 59"/>
            <p:cNvGrpSpPr>
              <a:grpSpLocks/>
            </p:cNvGrpSpPr>
            <p:nvPr/>
          </p:nvGrpSpPr>
          <p:grpSpPr bwMode="auto">
            <a:xfrm>
              <a:off x="4790" y="2568"/>
              <a:ext cx="267" cy="187"/>
              <a:chOff x="4790" y="2568"/>
              <a:chExt cx="267" cy="187"/>
            </a:xfrm>
          </p:grpSpPr>
          <p:sp>
            <p:nvSpPr>
              <p:cNvPr id="113" name="Rectangle 60"/>
              <p:cNvSpPr>
                <a:spLocks noChangeArrowheads="1"/>
              </p:cNvSpPr>
              <p:nvPr/>
            </p:nvSpPr>
            <p:spPr bwMode="auto">
              <a:xfrm>
                <a:off x="4832" y="2568"/>
                <a:ext cx="225" cy="187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14" name="Rectangle 61"/>
              <p:cNvSpPr>
                <a:spLocks noChangeArrowheads="1"/>
              </p:cNvSpPr>
              <p:nvPr/>
            </p:nvSpPr>
            <p:spPr bwMode="auto">
              <a:xfrm>
                <a:off x="4790" y="2585"/>
                <a:ext cx="83" cy="44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15" name="Rectangle 62"/>
              <p:cNvSpPr>
                <a:spLocks noChangeArrowheads="1"/>
              </p:cNvSpPr>
              <p:nvPr/>
            </p:nvSpPr>
            <p:spPr bwMode="auto">
              <a:xfrm>
                <a:off x="4790" y="2643"/>
                <a:ext cx="83" cy="44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4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110" name="AutoShape 63"/>
            <p:cNvSpPr>
              <a:spLocks noChangeArrowheads="1"/>
            </p:cNvSpPr>
            <p:nvPr/>
          </p:nvSpPr>
          <p:spPr bwMode="auto">
            <a:xfrm>
              <a:off x="4888" y="2586"/>
              <a:ext cx="75" cy="65"/>
            </a:xfrm>
            <a:prstGeom prst="hexagon">
              <a:avLst>
                <a:gd name="adj" fmla="val 28846"/>
                <a:gd name="vf" fmla="val 115470"/>
              </a:avLst>
            </a:prstGeom>
            <a:solidFill>
              <a:srgbClr val="FF99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11" name="AutoShape 64"/>
            <p:cNvSpPr>
              <a:spLocks noChangeArrowheads="1"/>
            </p:cNvSpPr>
            <p:nvPr/>
          </p:nvSpPr>
          <p:spPr bwMode="auto">
            <a:xfrm>
              <a:off x="4876" y="2667"/>
              <a:ext cx="74" cy="71"/>
            </a:xfrm>
            <a:prstGeom prst="pentagon">
              <a:avLst/>
            </a:prstGeom>
            <a:solidFill>
              <a:srgbClr val="FF99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12" name="AutoShape 65"/>
            <p:cNvSpPr>
              <a:spLocks noChangeArrowheads="1"/>
            </p:cNvSpPr>
            <p:nvPr/>
          </p:nvSpPr>
          <p:spPr bwMode="auto">
            <a:xfrm>
              <a:off x="4958" y="2626"/>
              <a:ext cx="75" cy="66"/>
            </a:xfrm>
            <a:prstGeom prst="triangle">
              <a:avLst>
                <a:gd name="adj" fmla="val 50000"/>
              </a:avLst>
            </a:prstGeom>
            <a:solidFill>
              <a:srgbClr val="FF99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4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16" name="Line 170"/>
          <p:cNvSpPr>
            <a:spLocks noChangeShapeType="1"/>
          </p:cNvSpPr>
          <p:nvPr/>
        </p:nvSpPr>
        <p:spPr bwMode="auto">
          <a:xfrm>
            <a:off x="8072462" y="4929198"/>
            <a:ext cx="0" cy="540000"/>
          </a:xfrm>
          <a:prstGeom prst="line">
            <a:avLst/>
          </a:prstGeom>
          <a:noFill/>
          <a:ln w="9525">
            <a:solidFill>
              <a:sysClr val="window" lastClr="FFFFFF"/>
            </a:solidFill>
            <a:prstDash val="dash"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7" name="AutoShape 153"/>
          <p:cNvSpPr>
            <a:spLocks noChangeArrowheads="1"/>
          </p:cNvSpPr>
          <p:nvPr/>
        </p:nvSpPr>
        <p:spPr bwMode="auto">
          <a:xfrm>
            <a:off x="8218516" y="5000636"/>
            <a:ext cx="568326" cy="357190"/>
          </a:xfrm>
          <a:prstGeom prst="can">
            <a:avLst>
              <a:gd name="adj" fmla="val 17648"/>
            </a:avLst>
          </a:prstGeom>
          <a:gradFill rotWithShape="1">
            <a:gsLst>
              <a:gs pos="0">
                <a:srgbClr val="A5A585"/>
              </a:gs>
              <a:gs pos="100000">
                <a:srgbClr val="8E8E73"/>
              </a:gs>
            </a:gsLst>
            <a:lin ang="2700000" scaled="1"/>
          </a:gradFill>
          <a:ln w="9525">
            <a:solidFill>
              <a:sysClr val="window" lastClr="FFFFFF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7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8" name="왼쪽/오른쪽 화살표 117"/>
          <p:cNvSpPr/>
          <p:nvPr/>
        </p:nvSpPr>
        <p:spPr>
          <a:xfrm>
            <a:off x="6715140" y="4929198"/>
            <a:ext cx="571504" cy="357190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 Box 168"/>
          <p:cNvSpPr txBox="1">
            <a:spLocks noChangeArrowheads="1"/>
          </p:cNvSpPr>
          <p:nvPr/>
        </p:nvSpPr>
        <p:spPr bwMode="auto">
          <a:xfrm>
            <a:off x="6761844" y="4945653"/>
            <a:ext cx="524800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Web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kern="0" dirty="0" smtClean="0">
                <a:latin typeface="+mn-ea"/>
                <a:ea typeface="+mn-ea"/>
              </a:rPr>
              <a:t>Service</a:t>
            </a:r>
            <a:endParaRPr kumimoji="0" lang="en-US" altLang="ko-KR" sz="8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3931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1160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400" b="1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Ⅳ. SK Telecom Imagine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 descr="제품등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1052736"/>
            <a:ext cx="3744416" cy="2248218"/>
          </a:xfrm>
          <a:prstGeom prst="rect">
            <a:avLst/>
          </a:prstGeom>
        </p:spPr>
      </p:pic>
      <p:pic>
        <p:nvPicPr>
          <p:cNvPr id="6" name="그림 5" descr="재고현황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49" y="1052736"/>
            <a:ext cx="3913751" cy="2248218"/>
          </a:xfrm>
          <a:prstGeom prst="rect">
            <a:avLst/>
          </a:prstGeom>
        </p:spPr>
      </p:pic>
      <p:pic>
        <p:nvPicPr>
          <p:cNvPr id="7" name="그림 6" descr="판매집계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7" y="3501008"/>
            <a:ext cx="3744416" cy="2376264"/>
          </a:xfrm>
          <a:prstGeom prst="rect">
            <a:avLst/>
          </a:prstGeom>
        </p:spPr>
      </p:pic>
      <p:pic>
        <p:nvPicPr>
          <p:cNvPr id="8" name="그림 7" descr="수불현황.png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258648" y="3501008"/>
            <a:ext cx="3913751" cy="2376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537" y="6126210"/>
            <a:ext cx="2304256" cy="26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ko-KR" altLang="en-US" sz="1000" dirty="0" smtClean="0">
                <a:latin typeface="+mn-ea"/>
                <a:ea typeface="+mn-ea"/>
              </a:rPr>
              <a:t>직관적인 </a:t>
            </a:r>
            <a:r>
              <a:rPr kumimoji="0" lang="en-US" altLang="ko-KR" sz="1000" dirty="0" smtClean="0">
                <a:latin typeface="+mn-ea"/>
                <a:ea typeface="+mn-ea"/>
              </a:rPr>
              <a:t>UI </a:t>
            </a:r>
            <a:r>
              <a:rPr kumimoji="0" lang="ko-KR" altLang="en-US" sz="1000" dirty="0" smtClean="0">
                <a:latin typeface="+mn-ea"/>
                <a:ea typeface="+mn-ea"/>
              </a:rPr>
              <a:t>설계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552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1"/>
          <p:cNvSpPr txBox="1">
            <a:spLocks noChangeArrowheads="1"/>
          </p:cNvSpPr>
          <p:nvPr/>
        </p:nvSpPr>
        <p:spPr bwMode="auto">
          <a:xfrm>
            <a:off x="71438" y="642938"/>
            <a:ext cx="111601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14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400" b="1" smtClean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dirty="0" smtClean="0">
                <a:latin typeface="맑은 고딕" pitchFamily="50" charset="-127"/>
                <a:ea typeface="맑은 고딕" pitchFamily="50" charset="-127"/>
              </a:rPr>
              <a:t>화면설명</a:t>
            </a:r>
            <a:endParaRPr kumimoji="0"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7" y="112692"/>
            <a:ext cx="4474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Ⅳ. SK Telecom Imagine System</a:t>
            </a:r>
            <a:endParaRPr lang="ko-KR" altLang="en-US" sz="16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547" y="1057395"/>
            <a:ext cx="4137133" cy="2366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7038" y="1057650"/>
            <a:ext cx="4007107" cy="2380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374" y="3554368"/>
            <a:ext cx="4157828" cy="250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3621" y="3554368"/>
            <a:ext cx="4032835" cy="2538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360547" y="6237311"/>
            <a:ext cx="23042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0" lang="en-US" altLang="ko-KR" sz="1000" dirty="0" smtClean="0">
                <a:latin typeface="+mn-ea"/>
                <a:ea typeface="+mn-ea"/>
              </a:rPr>
              <a:t>Web POS </a:t>
            </a:r>
            <a:r>
              <a:rPr kumimoji="0" lang="ko-KR" altLang="en-US" sz="1000" dirty="0" smtClean="0">
                <a:latin typeface="+mn-ea"/>
                <a:ea typeface="+mn-ea"/>
              </a:rPr>
              <a:t>화면 설계</a:t>
            </a:r>
            <a:r>
              <a:rPr kumimoji="0" lang="en-US" altLang="ko-KR" sz="1000" dirty="0" smtClean="0">
                <a:latin typeface="+mn-ea"/>
                <a:ea typeface="+mn-ea"/>
              </a:rPr>
              <a:t> </a:t>
            </a:r>
            <a:endParaRPr kumimoji="0" lang="en-US" altLang="ko-KR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2262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6966</TotalTime>
  <Words>1046</Words>
  <Application>Microsoft Office PowerPoint</Application>
  <PresentationFormat>화면 슬라이드 쇼(4:3)</PresentationFormat>
  <Paragraphs>327</Paragraphs>
  <Slides>26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pm-3</dc:creator>
  <cp:lastModifiedBy>Registered User</cp:lastModifiedBy>
  <cp:revision>539</cp:revision>
  <cp:lastPrinted>2011-11-24T06:13:56Z</cp:lastPrinted>
  <dcterms:created xsi:type="dcterms:W3CDTF">2009-12-29T02:07:43Z</dcterms:created>
  <dcterms:modified xsi:type="dcterms:W3CDTF">2017-11-28T08:18:06Z</dcterms:modified>
</cp:coreProperties>
</file>